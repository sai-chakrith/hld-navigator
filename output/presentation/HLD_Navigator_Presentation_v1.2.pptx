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f2c2582baea46c0" /><Relationship Type="http://schemas.openxmlformats.org/officeDocument/2006/relationships/extended-properties" Target="/docProps/app.xml" Id="R38b094f34920490b" /><Relationship Type="http://schemas.openxmlformats.org/officeDocument/2006/relationships/officeDocument" Target="/ppt/presentation.xml" Id="Rb8de59cf62064c5b" /></Relationships>
</file>

<file path=ppt/presentation.xml><?xml version="1.0" encoding="utf-8"?>
<p:presentation xmlns:p="http://schemas.openxmlformats.org/presentationml/2006/main">
  <p:sldMasterIdLst>
    <p:sldMasterId xmlns:r="http://schemas.openxmlformats.org/officeDocument/2006/relationships" id="2147483648" r:id="R2e6194aa19904c04"/>
  </p:sldMasterIdLst>
  <p:notesMasterIdLst>
    <p:notesMasterId xmlns:r="http://schemas.openxmlformats.org/officeDocument/2006/relationships" r:id="Ra62e86a1f95449ca"/>
  </p:notesMasterIdLst>
  <p:sldIdLst>
    <p:sldId xmlns:r="http://schemas.openxmlformats.org/officeDocument/2006/relationships" id="256" r:id="R86b8097778aa49a7"/>
    <p:sldId xmlns:r="http://schemas.openxmlformats.org/officeDocument/2006/relationships" id="257" r:id="R38c9e57ac34a4b62"/>
    <p:sldId xmlns:r="http://schemas.openxmlformats.org/officeDocument/2006/relationships" id="258" r:id="R8a4dc9a5c086475c"/>
    <p:sldId xmlns:r="http://schemas.openxmlformats.org/officeDocument/2006/relationships" id="259" r:id="R2c30621a8b004c8c"/>
    <p:sldId xmlns:r="http://schemas.openxmlformats.org/officeDocument/2006/relationships" id="260" r:id="Rc57e50ef4da947ba"/>
    <p:sldId xmlns:r="http://schemas.openxmlformats.org/officeDocument/2006/relationships" id="261" r:id="R72203c09dfe5435a"/>
    <p:sldId xmlns:r="http://schemas.openxmlformats.org/officeDocument/2006/relationships" id="262" r:id="R69c44604487d4c42"/>
    <p:sldId xmlns:r="http://schemas.openxmlformats.org/officeDocument/2006/relationships" id="263" r:id="R50e2c8837ec24653"/>
    <p:sldId xmlns:r="http://schemas.openxmlformats.org/officeDocument/2006/relationships" id="264" r:id="Ra01800304f8f46d3"/>
    <p:sldId xmlns:r="http://schemas.openxmlformats.org/officeDocument/2006/relationships" id="265" r:id="R6eb20ae830c242ab"/>
    <p:sldId xmlns:r="http://schemas.openxmlformats.org/officeDocument/2006/relationships" id="266" r:id="Rf152f7652dd54513"/>
    <p:sldId xmlns:r="http://schemas.openxmlformats.org/officeDocument/2006/relationships" id="267" r:id="Rade9abb0fd1b49f0"/>
    <p:sldId xmlns:r="http://schemas.openxmlformats.org/officeDocument/2006/relationships" id="268" r:id="R37510643afb44861"/>
    <p:sldId xmlns:r="http://schemas.openxmlformats.org/officeDocument/2006/relationships" id="269" r:id="R69553031e528496c"/>
    <p:sldId xmlns:r="http://schemas.openxmlformats.org/officeDocument/2006/relationships" id="270" r:id="R24def7dd6a2740f3"/>
    <p:sldId xmlns:r="http://schemas.openxmlformats.org/officeDocument/2006/relationships" id="271" r:id="Rd1a48698fe9846ed"/>
    <p:sldId xmlns:r="http://schemas.openxmlformats.org/officeDocument/2006/relationships" id="272" r:id="R1945e4cde4db4098"/>
    <p:sldId xmlns:r="http://schemas.openxmlformats.org/officeDocument/2006/relationships" id="273" r:id="R55d07a753c164e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a0c83a3df74594" /><Relationship Type="http://schemas.openxmlformats.org/officeDocument/2006/relationships/slideMaster" Target="/ppt/slideMasters/slideMaster1.xml" Id="R2e6194aa19904c04" /><Relationship Type="http://schemas.openxmlformats.org/officeDocument/2006/relationships/notesMaster" Target="/ppt/notesMasters/notesMaster1.xml" Id="Ra62e86a1f95449ca" /><Relationship Type="http://schemas.openxmlformats.org/officeDocument/2006/relationships/presProps" Target="/ppt/presProps.xml" Id="R1c8bd4869d4b400f" /><Relationship Type="http://schemas.openxmlformats.org/officeDocument/2006/relationships/tableStyles" Target="/ppt/tableStyles.xml" Id="R89a864c2e3164ac1" /><Relationship Type="http://schemas.openxmlformats.org/officeDocument/2006/relationships/slide" Target="/ppt/slides/slide1.xml" Id="R86b8097778aa49a7" /><Relationship Type="http://schemas.openxmlformats.org/officeDocument/2006/relationships/slide" Target="/ppt/slides/slide2.xml" Id="R38c9e57ac34a4b62" /><Relationship Type="http://schemas.openxmlformats.org/officeDocument/2006/relationships/slide" Target="/ppt/slides/slide3.xml" Id="R8a4dc9a5c086475c" /><Relationship Type="http://schemas.openxmlformats.org/officeDocument/2006/relationships/slide" Target="/ppt/slides/slide4.xml" Id="R2c30621a8b004c8c" /><Relationship Type="http://schemas.openxmlformats.org/officeDocument/2006/relationships/slide" Target="/ppt/slides/slide5.xml" Id="Rc57e50ef4da947ba" /><Relationship Type="http://schemas.openxmlformats.org/officeDocument/2006/relationships/slide" Target="/ppt/slides/slide6.xml" Id="R72203c09dfe5435a" /><Relationship Type="http://schemas.openxmlformats.org/officeDocument/2006/relationships/slide" Target="/ppt/slides/slide7.xml" Id="R69c44604487d4c42" /><Relationship Type="http://schemas.openxmlformats.org/officeDocument/2006/relationships/slide" Target="/ppt/slides/slide8.xml" Id="R50e2c8837ec24653" /><Relationship Type="http://schemas.openxmlformats.org/officeDocument/2006/relationships/slide" Target="/ppt/slides/slide9.xml" Id="Ra01800304f8f46d3" /><Relationship Type="http://schemas.openxmlformats.org/officeDocument/2006/relationships/slide" Target="/ppt/slides/slide10.xml" Id="R6eb20ae830c242ab" /><Relationship Type="http://schemas.openxmlformats.org/officeDocument/2006/relationships/slide" Target="/ppt/slides/slide11.xml" Id="Rf152f7652dd54513" /><Relationship Type="http://schemas.openxmlformats.org/officeDocument/2006/relationships/slide" Target="/ppt/slides/slide12.xml" Id="Rade9abb0fd1b49f0" /><Relationship Type="http://schemas.openxmlformats.org/officeDocument/2006/relationships/slide" Target="/ppt/slides/slide13.xml" Id="R37510643afb44861" /><Relationship Type="http://schemas.openxmlformats.org/officeDocument/2006/relationships/slide" Target="/ppt/slides/slide14.xml" Id="R69553031e528496c" /><Relationship Type="http://schemas.openxmlformats.org/officeDocument/2006/relationships/slide" Target="/ppt/slides/slide15.xml" Id="R24def7dd6a2740f3" /><Relationship Type="http://schemas.openxmlformats.org/officeDocument/2006/relationships/slide" Target="/ppt/slides/slide16.xml" Id="Rd1a48698fe9846ed" /><Relationship Type="http://schemas.openxmlformats.org/officeDocument/2006/relationships/slide" Target="/ppt/slides/slide17.xml" Id="R1945e4cde4db4098" /><Relationship Type="http://schemas.openxmlformats.org/officeDocument/2006/relationships/slide" Target="/ppt/slides/slide18.xml" Id="R55d07a753c164e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52c4a44d4b49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745a1a92df4185" /><Relationship Type="http://schemas.openxmlformats.org/officeDocument/2006/relationships/notesMaster" Target="/ppt/notesMasters/notesMaster1.xml" Id="R64918e12665f48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5569992c704f30" /><Relationship Type="http://schemas.openxmlformats.org/officeDocument/2006/relationships/notesMaster" Target="/ppt/notesMasters/notesMaster1.xml" Id="R79ee395cdc804b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acdbb95e044b63" /><Relationship Type="http://schemas.openxmlformats.org/officeDocument/2006/relationships/notesMaster" Target="/ppt/notesMasters/notesMaster1.xml" Id="R89697e37a76b43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bccbfaddda4c1a" /><Relationship Type="http://schemas.openxmlformats.org/officeDocument/2006/relationships/notesMaster" Target="/ppt/notesMasters/notesMaster1.xml" Id="Rec3d9ff354d043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bdd13c83774d2c" /><Relationship Type="http://schemas.openxmlformats.org/officeDocument/2006/relationships/notesMaster" Target="/ppt/notesMasters/notesMaster1.xml" Id="Rd0d6a96a6adf4f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0a26671d844fa5" /><Relationship Type="http://schemas.openxmlformats.org/officeDocument/2006/relationships/notesMaster" Target="/ppt/notesMasters/notesMaster1.xml" Id="R35b989598e4a41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7a9405fc94450b" /><Relationship Type="http://schemas.openxmlformats.org/officeDocument/2006/relationships/notesMaster" Target="/ppt/notesMasters/notesMaster1.xml" Id="R92fc84d39a1744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00c3401e8d4658" /><Relationship Type="http://schemas.openxmlformats.org/officeDocument/2006/relationships/notesMaster" Target="/ppt/notesMasters/notesMaster1.xml" Id="Re82e43ee38434a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419866aeda439f" /><Relationship Type="http://schemas.openxmlformats.org/officeDocument/2006/relationships/notesMaster" Target="/ppt/notesMasters/notesMaster1.xml" Id="R6e9d7fbd71334d7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f210392f3f4a9e" /><Relationship Type="http://schemas.openxmlformats.org/officeDocument/2006/relationships/notesMaster" Target="/ppt/notesMasters/notesMaster1.xml" Id="R3cf031541a98427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e45ff1aa2d040d6" /><Relationship Type="http://schemas.openxmlformats.org/officeDocument/2006/relationships/notesMaster" Target="/ppt/notesMasters/notesMaster1.xml" Id="R175888be578e48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a47f33cc224dd6" /><Relationship Type="http://schemas.openxmlformats.org/officeDocument/2006/relationships/notesMaster" Target="/ppt/notesMasters/notesMaster1.xml" Id="R24bdacbd60694d8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d403e040d4f46c3" /><Relationship Type="http://schemas.openxmlformats.org/officeDocument/2006/relationships/notesMaster" Target="/ppt/notesMasters/notesMaster1.xml" Id="R425eb6fd20ae4d6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acd257018af48f9" /><Relationship Type="http://schemas.openxmlformats.org/officeDocument/2006/relationships/notesMaster" Target="/ppt/notesMasters/notesMaster1.xml" Id="R474aede3d53f4e0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ad194b51d614b53" /><Relationship Type="http://schemas.openxmlformats.org/officeDocument/2006/relationships/notesMaster" Target="/ppt/notesMasters/notesMaster1.xml" Id="Rdb2f63a35792418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3c8450ed7c547cb" /><Relationship Type="http://schemas.openxmlformats.org/officeDocument/2006/relationships/notesMaster" Target="/ppt/notesMasters/notesMaster1.xml" Id="Rd6ffdb4b214a400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7c25f532d2c4f3e" /><Relationship Type="http://schemas.openxmlformats.org/officeDocument/2006/relationships/notesMaster" Target="/ppt/notesMasters/notesMaster1.xml" Id="Rd2eabf14346c4d2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7ac08ce9c2e4f91" /><Relationship Type="http://schemas.openxmlformats.org/officeDocument/2006/relationships/notesMaster" Target="/ppt/notesMasters/notesMaster1.xml" Id="R7822f05f3ccf4e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Instructions1.pdf, printed pp. 3–4 and 9</a:t>
            </a:r>
          </a:p>
          <a:p xmlns:a="http://schemas.openxmlformats.org/drawingml/2006/main">
            <a:r>
              <a:t>Presentation: 20 seconds. Introduce the allocated CS1 project. Register/team ID and personal signatures remain pending. The project is an engineering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Instructions1.pdf, printed pp. 3–4; README.md</a:t>
            </a:r>
          </a:p>
          <a:p xmlns:a="http://schemas.openxmlformats.org/drawingml/2006/main">
            <a:r>
              <a:t>Presentation: 45 seconds. Explain that the objectives are proposed outcomes. No measured reduction in review time or automotive reliability is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Instructions1.pdf, printed p. 4; README.md; STATUS.md</a:t>
            </a:r>
          </a:p>
          <a:p xmlns:a="http://schemas.openxmlformats.org/drawingml/2006/main">
            <a:r>
              <a:t>Presentation: 45 seconds. The brief requires OCR and cited natural-language answers. Adapters exist, but real scan integration has been executed; answer behavior is documented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docs/LOCAL_MODEL_VALIDATION.md</a:t>
            </a:r>
          </a:p>
          <a:p xmlns:a="http://schemas.openxmlformats.org/drawingml/2006/main">
            <a:r>
              <a:t>Presentation: 55 seconds. Explain information retrieval versus supervised prediction. No training or fine-tuning is claimed. Embeddings are dense representations from a pre-trained model. Retrieval supplies evidence to generation, while extraction uses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data/evaluation/manifest.json; data/evaluation/public/provenance.json; docs/VALIDATION.md</a:t>
            </a:r>
          </a:p>
          <a:p xmlns:a="http://schemas.openxmlformats.org/drawingml/2006/main">
            <a:r>
              <a:t>Presentation: 60 seconds. Describe EDA as document quality assessment. Do not claim a large, balanced dataset. Development annotations and public provisional labels are not independent ground truth. Authorized OEM documents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src/hld_navigator/app.py; extraction.py; store.py; rag.py; vectors.py; ui.py; README.md</a:t>
            </a:r>
          </a:p>
          <a:p xmlns:a="http://schemas.openxmlformats.org/drawingml/2006/main">
            <a:r>
              <a:t>Presentation: 55 seconds. Walk through the sequence top to bottom. FastAPI handles the service and Streamlit handles the engineering UI. SQLite stores versioned evidence, decisions, lexical index and persistent vectors. This custom store differs from the FAISS/Chroma example in the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src/hld_navigator/models.py; tables.py; vectors.py; rag.py; README.md</a:t>
            </a:r>
          </a:p>
          <a:p xmlns:a="http://schemas.openxmlformats.org/drawingml/2006/main">
            <a:r>
              <a:t>Presentation: 50 seconds. Explain why units, port kind and version are meaningful architecture features. PCA is not used because there is no established need, and dimensionality reduction could alter retrieval ranking. No feature-importance or PCA result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data/evaluation/torque-prose.md; README.md</a:t>
            </a:r>
          </a:p>
          <a:p xmlns:a="http://schemas.openxmlformats.org/drawingml/2006/main">
            <a:r>
              <a:t>Presentation: 55 seconds. This is a synthetic fixture, not an OEM result. The table shows expected facts from the source, not a screenshot or an independently validated prediction. Demo the actual extraction/review output afterward.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docs/VALIDATION.md; docs/evidence/public-baseline.json; tester_acceptance/T7a_CYCLE1_REPORT.md</a:t>
            </a:r>
          </a:p>
          <a:p xmlns:a="http://schemas.openxmlformats.org/drawingml/2006/main">
            <a:r>
              <a:t>Presentation: 65 seconds. Current local suite: 499 passing tests; one upstream deprecation warning. Real HTTP and Streamlit workflows were verified. OCR is a genuine instruction scan, not an HLD accuracy benchmark. Public annotations are provisional agent labels. No independent precision/recall or measured productivity benefit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docs/evidence/local-embedding.json; docs/evidence/answer-run-v3/summary.json; docs/evidence/answer-run-v3/score.json</a:t>
            </a:r>
          </a:p>
          <a:p xmlns:a="http://schemas.openxmlformats.org/drawingml/2006/main">
            <a:r>
              <a:t>Presentation: 60 seconds. Four selected queries give lexical recall@5 0.75 and MRR 0.75, BGE recall@5 0.75 and MRR 0.625. The chart uses literal recorded values. The small benchmark does not establish that learned retrieval is better. The current 7B answer run retains 30 raw outputs and separately assessed guarded results. Mechanical contract passes are not semantic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STATUS.md; docs/VALIDATION.md; Instructions1.pdf, printed p. 4</a:t>
            </a:r>
          </a:p>
          <a:p xmlns:a="http://schemas.openxmlformats.org/drawingml/2006/main">
            <a:r>
              <a:t>Presentation: 50 seconds. The source is untrusted evidence and cannot authorize actions. The historical 0.5B run showed prompt-injection contamination; the current 7B run retains separate injection assessments. Literal snippet validation protects source fidelity but does not establish entailment. Local tokens and audit records are pilot controls, not enterprise IAM or tamper-resistant auditing.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STATUS.md; docs/VALIDATION.md; tester_acceptance/T7a_CYCLE1_REPORT.md</a:t>
            </a:r>
          </a:p>
          <a:p xmlns:a="http://schemas.openxmlformats.org/drawingml/2006/main">
            <a:r>
              <a:t>Presentation: 40 seconds. The main deck ends here at a total planned duration of ten minutes. Follow with a separate ten-minute live demonstration. No automatic architecture approval or formal AUTOSAR conformance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Instructions1.pdf, printed p. 9</a:t>
            </a:r>
          </a:p>
          <a:p xmlns:a="http://schemas.openxmlformats.org/drawingml/2006/main">
            <a:r>
              <a:t>Appendix, outside the ten-minute presentation. Use the submitted version. Declare external dependencies beforehand. Use the required submitted 5–10 minute video only if the live demonstration fails. The timing rows sum to ten minutes. Show actual behavior and failures, not rehearsed output screenshots presented as a live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pyproject.toml; docs/LOCAL_MODEL_VALIDATION.md; docs/evidence/local-model.json; README.md</a:t>
            </a:r>
          </a:p>
          <a:p xmlns:a="http://schemas.openxmlformats.org/drawingml/2006/main">
            <a:r>
              <a:t>Appendix. Pinned hashes and artifact URLs are in setup_local_models.py and experiment JSON. Four CPU threads, no GPU inference in the recorded run. Setup downloads require internet, inference runs locally. Ollama is an optional adapter, not an executed acceptance result. BGE conversion provenance is retained. The brief names FAISS/Chroma as reference stores, whereas this implementation uses custom SQLite vectors. This variance must be declared.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Evaluation_Rubrics.pdf, printed p. 10</a:t>
            </a:r>
          </a:p>
          <a:p xmlns:a="http://schemas.openxmlformats.org/drawingml/2006/main">
            <a:r>
              <a:t>Appendix. Map evidence to all criteria without assigning a score. The separate project evaluation workbook is authoritative. These six criteria total 66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Evaluation_Rubrics.pdf, printed pp. 10–11; Instructions2.pdf</a:t>
            </a:r>
          </a:p>
          <a:p xmlns:a="http://schemas.openxmlformats.org/drawingml/2006/main">
            <a:r>
              <a:t>Appendix. These criteria total 34 marks. Together the rubric totals 100. Technical Q&amp;A is eight minutes and each team member must respond. Do not invent member contributions. Record actual ownership and explain every submitted artifact.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Instructions1.pdf, printed pp. 8–9; Instructions2.pdf; supplied folder-structure JPEG</a:t>
            </a:r>
          </a:p>
          <a:p xmlns:a="http://schemas.openxmlformats.org/drawingml/2006/main">
            <a:r>
              <a:t>Appendix. The folder tree is a required final-package structure, prepared with unsigned drafts and missing register/team ID. Root: UniversityName_StudentName_RegisterNo_CS1_AIML or UniversityName_TeamID_CS1_AIML. Name artifacts &lt;RegisterNo or TeamID&gt;_&lt;Artifact&gt;_v&lt;Version&gt;, for example &lt;ID&gt;_Presentation_v1.0.pptx. Include the ZIP of the entire folder. Each student signs academic integrity and AI-use declarations. Declare Codex assistance for this presentation and verify the deck personally. Faculty approval, signatures and member details cannot be inferred.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All sources listed below, plus supplied instruction documents</a:t>
            </a:r>
          </a:p>
          <a:p xmlns:a="http://schemas.openxmlformats.org/drawingml/2006/main">
            <a:r>
              <a:t>Appendix. Primary project files are repository-relative references. The deck uses existing recorded experiments; the current suite, HTTP, embeddings and OCR were rerun on 09 October 2026. Before final submission, fill identity fields, confirm actual contributor ownership and sign declarations. Q&amp;A topics: why pattern extraction, why preserve full blocks, lexical versus dense retrieval, abstention versus answer relevance, model rejection, revision traceability and deployment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570c3e1d4144d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edd71bc216640e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fa514148ab840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d3105a2937646d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f6be883f6b4f9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7fdc150ec3245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2E6697-76F7-4276-BE01-C4724B1C824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B3FC94E-9E5E-42A2-B561-C11147F2357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908E867-417F-4768-B44E-E6DADD7BFF9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1C5728-E3FD-4C80-8A8D-11D130FAD1C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83F1594-B3CB-4AA4-8F83-AA59D25505E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D2C14DC-32B2-4387-9535-0BB73F1DF8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B75267-5002-43B4-BA13-4BE6A645CB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4B4C9F1-CC3B-4224-BD87-E9A391C86FB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4C1408-445A-42E8-88E8-DE928D75DD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C6730E3-62DA-4CA8-9479-C550FB6176D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fac37f0de7469b" /><Relationship Type="http://schemas.openxmlformats.org/officeDocument/2006/relationships/slideLayout" Target="/ppt/slideLayouts/slideLayout1.xml" Id="R6cb1c3d054574a2c" /><Relationship Type="http://schemas.openxmlformats.org/officeDocument/2006/relationships/slideLayout" Target="/ppt/slideLayouts/slideLayout2.xml" Id="Rfaf10f61c8964877" /><Relationship Type="http://schemas.openxmlformats.org/officeDocument/2006/relationships/slideLayout" Target="/ppt/slideLayouts/slideLayout3.xml" Id="R44194e0932ba46d4" /><Relationship Type="http://schemas.openxmlformats.org/officeDocument/2006/relationships/slideLayout" Target="/ppt/slideLayouts/slideLayout4.xml" Id="R6b22a3ae1a434d85" /><Relationship Type="http://schemas.openxmlformats.org/officeDocument/2006/relationships/slideLayout" Target="/ppt/slideLayouts/slideLayout5.xml" Id="R556f9d17ed39483e" /><Relationship Type="http://schemas.openxmlformats.org/officeDocument/2006/relationships/slideLayout" Target="/ppt/slideLayouts/slideLayout6.xml" Id="R8c798a40af1042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b1c3d054574a2c"/>
    <p:sldLayoutId xmlns:r="http://schemas.openxmlformats.org/officeDocument/2006/relationships" id="2147483650" r:id="Rfaf10f61c8964877"/>
    <p:sldLayoutId xmlns:r="http://schemas.openxmlformats.org/officeDocument/2006/relationships" id="2147483651" r:id="R44194e0932ba46d4"/>
    <p:sldLayoutId xmlns:r="http://schemas.openxmlformats.org/officeDocument/2006/relationships" id="2147483652" r:id="R6b22a3ae1a434d85"/>
    <p:sldLayoutId xmlns:r="http://schemas.openxmlformats.org/officeDocument/2006/relationships" id="2147483653" r:id="R556f9d17ed39483e"/>
    <p:sldLayoutId xmlns:r="http://schemas.openxmlformats.org/officeDocument/2006/relationships" id="2147483654" r:id="R8c798a40af1042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5e7b9ee6b834cfb" /><Relationship Type="http://schemas.openxmlformats.org/officeDocument/2006/relationships/notesSlide" Target="/ppt/notesSlides/notesSlide1.xml" Id="Raeed0ae78f9449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6aea638942a4013" /><Relationship Type="http://schemas.openxmlformats.org/officeDocument/2006/relationships/notesSlide" Target="/ppt/notesSlides/notesSlide2.xml" Id="Rfdeef2ae3a324f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a5db74efbf54109" /><Relationship Type="http://schemas.openxmlformats.org/officeDocument/2006/relationships/notesSlide" Target="/ppt/notesSlides/notesSlide3.xml" Id="Rc071bd9966df4e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46be8276cd5427c" /><Relationship Type="http://schemas.openxmlformats.org/officeDocument/2006/relationships/notesSlide" Target="/ppt/notesSlides/notesSlide4.xml" Id="Redadeaf9536746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f6465124a1c4bbe" /><Relationship Type="http://schemas.openxmlformats.org/officeDocument/2006/relationships/notesSlide" Target="/ppt/notesSlides/notesSlide5.xml" Id="R019e2696744a43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54b86b1f59b4ed6" /><Relationship Type="http://schemas.openxmlformats.org/officeDocument/2006/relationships/notesSlide" Target="/ppt/notesSlides/notesSlide6.xml" Id="R487d32a1611145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a643060419744da" /><Relationship Type="http://schemas.openxmlformats.org/officeDocument/2006/relationships/notesSlide" Target="/ppt/notesSlides/notesSlide7.xml" Id="Rfa9eaddc463b4f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1cfe8e8158444dc" /><Relationship Type="http://schemas.openxmlformats.org/officeDocument/2006/relationships/notesSlide" Target="/ppt/notesSlides/notesSlide8.xml" Id="Rdde81a21d4de47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ff47bdbbcb04827" /><Relationship Type="http://schemas.openxmlformats.org/officeDocument/2006/relationships/notesSlide" Target="/ppt/notesSlides/notesSlide9.xml" Id="Rc79a6a14b0cf46e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18bc84ca057429c" /><Relationship Type="http://schemas.openxmlformats.org/officeDocument/2006/relationships/chart" Target="/ppt/slides/charts/chart1.xml" Id="Rf45e07e06e28411f" /><Relationship Type="http://schemas.openxmlformats.org/officeDocument/2006/relationships/notesSlide" Target="/ppt/notesSlides/notesSlide10.xml" Id="R5b60b60791b14f1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2a0d8e4580744e0" /><Relationship Type="http://schemas.openxmlformats.org/officeDocument/2006/relationships/notesSlide" Target="/ppt/notesSlides/notesSlide11.xml" Id="Rbd9f4d496db14b0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3eaf69cce5b402b" /><Relationship Type="http://schemas.openxmlformats.org/officeDocument/2006/relationships/notesSlide" Target="/ppt/notesSlides/notesSlide12.xml" Id="R0b6a1b7699e8424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aa3090907b240ea" /><Relationship Type="http://schemas.openxmlformats.org/officeDocument/2006/relationships/notesSlide" Target="/ppt/notesSlides/notesSlide13.xml" Id="R6975fde13ec34e7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a1992c602694b52" /><Relationship Type="http://schemas.openxmlformats.org/officeDocument/2006/relationships/notesSlide" Target="/ppt/notesSlides/notesSlide14.xml" Id="R43fa2b04f30346a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a9bfb82b00d4b3f" /><Relationship Type="http://schemas.openxmlformats.org/officeDocument/2006/relationships/notesSlide" Target="/ppt/notesSlides/notesSlide15.xml" Id="R969b416cccb4494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56912cb6fc349e5" /><Relationship Type="http://schemas.openxmlformats.org/officeDocument/2006/relationships/notesSlide" Target="/ppt/notesSlides/notesSlide16.xml" Id="R88f61ab98ea74dd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dd5e22819324ce5" /><Relationship Type="http://schemas.openxmlformats.org/officeDocument/2006/relationships/notesSlide" Target="/ppt/notesSlides/notesSlide17.xml" Id="R7ff865baf97041a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cb55a2d5a1a4218" /><Relationship Type="http://schemas.openxmlformats.org/officeDocument/2006/relationships/notesSlide" Target="/ppt/notesSlides/notesSlide18.xml" Id="R9ddf1c768043453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Lexical</c:v>
          </c:tx>
          <c:spPr>
            <a:solidFill xmlns:a="http://schemas.openxmlformats.org/drawingml/2006/main">
              <a:srgbClr val="193653"/>
            </a:solidFill>
          </c:spPr>
          <c:cat>
            <c:strRef>
              <c:f>'Chart Data'!$A$2:$A$3</c:f>
              <c:strCache>
                <c:ptCount val="2"/>
                <c:pt idx="0">
                  <c:v>Recall@5</c:v>
                </c:pt>
                <c:pt idx="1">
                  <c:v>MRR</c:v>
                </c:pt>
              </c:strCache>
            </c:strRef>
          </c:cat>
          <c:val>
            <c:numRef>
              <c:f>'Chart Data'!$B$2:$B$3</c:f>
              <c:numCache>
                <c:formatCode>0.00</c:formatCode>
                <c:ptCount val="2"/>
                <c:pt idx="0">
                  <c:v>0.75</c:v>
                </c:pt>
                <c:pt idx="1">
                  <c:v>0.75</c:v>
                </c:pt>
              </c:numCache>
            </c:numRef>
          </c:val>
        </c:ser>
        <c:ser>
          <c:idx val="1"/>
          <c:order val="1"/>
          <c:tx>
            <c:v>BGE CPU</c:v>
          </c:tx>
          <c:spPr>
            <a:solidFill xmlns:a="http://schemas.openxmlformats.org/drawingml/2006/main">
              <a:srgbClr val="276CAE"/>
            </a:solidFill>
          </c:spPr>
          <c:cat>
            <c:strRef>
              <c:f>'Chart Data'!$C$2:$C$3</c:f>
              <c:strCache>
                <c:ptCount val="2"/>
                <c:pt idx="0">
                  <c:v>Recall@5</c:v>
                </c:pt>
                <c:pt idx="1">
                  <c:v>MRR</c:v>
                </c:pt>
              </c:strCache>
            </c:strRef>
          </c:cat>
          <c:val>
            <c:numRef>
              <c:f>'Chart Data'!$D$2:$D$3</c:f>
              <c:numCache>
                <c:formatCode>0.00</c:formatCode>
                <c:ptCount val="2"/>
                <c:pt idx="0">
                  <c:v>0.75</c:v>
                </c:pt>
                <c:pt idx="1">
                  <c:v>0.625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1"/>
          <c:min val="0"/>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0.25"/>
      </c:valAx>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DBC6A95-BFE7-49FA-83AE-6539A5F075E9}"/>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653"/>
                </a:solidFill>
                <a:latin typeface="Arial"/>
                <a:ea typeface="Arial"/>
                <a:cs typeface="Arial"/>
              </a:defRPr>
            </a:defPPr>
          </a:lstStyle>
          <a:p xmlns:a="http://schemas.openxmlformats.org/drawingml/2006/main">
            <a:pPr>
              <a:defRPr sz="3300" b="1">
                <a:solidFill>
                  <a:srgbClr val="193653"/>
                </a:solidFill>
                <a:latin typeface="Arial"/>
                <a:ea typeface="Arial"/>
                <a:cs typeface="Arial"/>
              </a:defRPr>
            </a:pPr>
            <a:r>
              <a:rPr sz="3300" b="1">
                <a:solidFill>
                  <a:srgbClr val="193653"/>
                </a:solidFill>
                <a:latin typeface="Arial"/>
                <a:ea typeface="Arial"/>
                <a:cs typeface="Arial"/>
              </a:rPr>
              <a:t>HLD Navigator</a:t>
            </a:r>
          </a:p>
        </p:txBody>
      </p:sp>
      <p:sp>
        <p:nvSpPr>
          <p:cNvPr id="2" name="">
            <a:extLst xmlns:a="http://schemas.openxmlformats.org/drawingml/2006/main">
              <a:ext uri="{FF2B5EF4-FFF2-40B4-BE49-F238E27FC236}">
                <a16:creationId xmlns:a16="http://schemas.microsoft.com/office/drawing/2014/main" id="{5A05C27D-D76A-4CE4-A5E5-2C7A381DD46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HLD Navigator</a:t>
            </a:r>
          </a:p>
        </p:txBody>
      </p:sp>
      <p:sp>
        <p:nvSpPr>
          <p:cNvPr id="3" name="">
            <a:extLst xmlns:a="http://schemas.openxmlformats.org/drawingml/2006/main">
              <a:ext uri="{FF2B5EF4-FFF2-40B4-BE49-F238E27FC236}">
                <a16:creationId xmlns:a16="http://schemas.microsoft.com/office/drawing/2014/main" id="{CE32DD77-4F34-4EAF-93F3-7D827B9379F1}"/>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5C3D0AB8-526D-4920-8D07-EBB5F63BABBA}"/>
              </a:ext>
            </a:extLst>
          </p:cNvPr>
          <p:cNvSpPr>
            <a:spLocks xmlns:a="http://schemas.openxmlformats.org/drawingml/2006/main" noGrp="1"/>
          </p:cNvSpPr>
          <p:nvPr/>
        </p:nvSpPr>
        <p:spPr>
          <a:xfrm xmlns:a="http://schemas.openxmlformats.org/drawingml/2006/main">
            <a:off x="609600" y="188595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93653"/>
                </a:solidFill>
                <a:latin typeface="Arial"/>
                <a:ea typeface="Arial"/>
                <a:cs typeface="Arial"/>
              </a:defRPr>
            </a:defPPr>
          </a:lstStyle>
          <a:p xmlns:a="http://schemas.openxmlformats.org/drawingml/2006/main">
            <a:pPr>
              <a:defRPr sz="3900" b="1">
                <a:solidFill>
                  <a:srgbClr val="193653"/>
                </a:solidFill>
                <a:latin typeface="Arial"/>
                <a:ea typeface="Arial"/>
                <a:cs typeface="Arial"/>
              </a:defRPr>
            </a:pPr>
            <a:r>
              <a:rPr sz="3900" b="1">
                <a:solidFill>
                  <a:srgbClr val="193653"/>
                </a:solidFill>
                <a:latin typeface="Arial"/>
                <a:ea typeface="Arial"/>
                <a:cs typeface="Arial"/>
              </a:rPr>
              <a:t>AUTOSAR HLD Document Analysis Assistant</a:t>
            </a:r>
          </a:p>
        </p:txBody>
      </p:sp>
      <p:sp>
        <p:nvSpPr>
          <p:cNvPr id="5" name="">
            <a:extLst xmlns:a="http://schemas.openxmlformats.org/drawingml/2006/main">
              <a:ext uri="{FF2B5EF4-FFF2-40B4-BE49-F238E27FC236}">
                <a16:creationId xmlns:a16="http://schemas.microsoft.com/office/drawing/2014/main" id="{3722A4CC-6BD3-48C7-8196-ECE36ED00193}"/>
              </a:ext>
            </a:extLst>
          </p:cNvPr>
          <p:cNvSpPr>
            <a:spLocks xmlns:a="http://schemas.openxmlformats.org/drawingml/2006/main" noGrp="1"/>
          </p:cNvSpPr>
          <p:nvPr/>
        </p:nvSpPr>
        <p:spPr>
          <a:xfrm xmlns:a="http://schemas.openxmlformats.org/drawingml/2006/main">
            <a:off x="609600" y="35814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76CAE"/>
                </a:solidFill>
                <a:latin typeface="Arial"/>
                <a:ea typeface="Arial"/>
                <a:cs typeface="Arial"/>
              </a:defRPr>
            </a:defPPr>
          </a:lstStyle>
          <a:p xmlns:a="http://schemas.openxmlformats.org/drawingml/2006/main">
            <a:pPr>
              <a:defRPr sz="2100" b="0">
                <a:solidFill>
                  <a:srgbClr val="276CAE"/>
                </a:solidFill>
                <a:latin typeface="Arial"/>
                <a:ea typeface="Arial"/>
                <a:cs typeface="Arial"/>
              </a:defRPr>
            </a:pPr>
            <a:r>
              <a:rPr sz="2100" b="0">
                <a:solidFill>
                  <a:srgbClr val="276CAE"/>
                </a:solidFill>
                <a:latin typeface="Arial"/>
                <a:ea typeface="Arial"/>
                <a:cs typeface="Arial"/>
              </a:rPr>
              <a:t>Case Study 1 · TechPulse FY-26 Applied AI/ML</a:t>
            </a:r>
          </a:p>
        </p:txBody>
      </p:sp>
      <p:sp>
        <p:nvSpPr>
          <p:cNvPr id="6" name="">
            <a:extLst xmlns:a="http://schemas.openxmlformats.org/drawingml/2006/main">
              <a:ext uri="{FF2B5EF4-FFF2-40B4-BE49-F238E27FC236}">
                <a16:creationId xmlns:a16="http://schemas.microsoft.com/office/drawing/2014/main" id="{BB879764-8EEA-4350-A56E-5451EA51680C}"/>
              </a:ext>
            </a:extLst>
          </p:cNvPr>
          <p:cNvSpPr>
            <a:spLocks xmlns:a="http://schemas.openxmlformats.org/drawingml/2006/main" noGrp="1"/>
          </p:cNvSpPr>
          <p:nvPr/>
        </p:nvSpPr>
        <p:spPr>
          <a:xfrm xmlns:a="http://schemas.openxmlformats.org/drawingml/2006/main">
            <a:off x="609600" y="462915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274"/>
                </a:solidFill>
                <a:latin typeface="Arial"/>
                <a:ea typeface="Arial"/>
                <a:cs typeface="Arial"/>
              </a:defRPr>
            </a:defPPr>
          </a:lstStyle>
          <a:p xmlns:a="http://schemas.openxmlformats.org/drawingml/2006/main">
            <a:pPr>
              <a:defRPr sz="1800" b="0">
                <a:solidFill>
                  <a:srgbClr val="516274"/>
                </a:solidFill>
                <a:latin typeface="Arial"/>
                <a:ea typeface="Arial"/>
                <a:cs typeface="Arial"/>
              </a:defRPr>
            </a:pPr>
            <a:r>
              <a:rPr sz="1800" b="0">
                <a:solidFill>
                  <a:srgbClr val="516274"/>
                </a:solidFill>
                <a:latin typeface="Arial"/>
                <a:ea typeface="Arial"/>
                <a:cs typeface="Arial"/>
              </a:rPr>
              <a:t>University: Amrita Viswa Vidyapeetham</a:t>
            </a:r>
          </a:p>
          <a:p xmlns:a="http://schemas.openxmlformats.org/drawingml/2006/main">
            <a:pPr>
              <a:defRPr sz="1800" b="0">
                <a:solidFill>
                  <a:srgbClr val="516274"/>
                </a:solidFill>
                <a:latin typeface="Arial"/>
                <a:ea typeface="Arial"/>
                <a:cs typeface="Arial"/>
              </a:defRPr>
            </a:pPr>
            <a:r>
              <a:rPr sz="1800" b="0">
                <a:solidFill>
                  <a:srgbClr val="516274"/>
                </a:solidFill>
                <a:latin typeface="Arial"/>
                <a:ea typeface="Arial"/>
                <a:cs typeface="Arial"/>
              </a:rPr>
              <a:t>Presenter: Sai Chakrith Sulluru</a:t>
            </a:r>
          </a:p>
          <a:p xmlns:a="http://schemas.openxmlformats.org/drawingml/2006/main">
            <a:pPr>
              <a:defRPr sz="1800" b="0">
                <a:solidFill>
                  <a:srgbClr val="516274"/>
                </a:solidFill>
                <a:latin typeface="Arial"/>
                <a:ea typeface="Arial"/>
                <a:cs typeface="Arial"/>
              </a:defRPr>
            </a:pPr>
            <a:r>
              <a:rPr sz="1800" b="0">
                <a:solidFill>
                  <a:srgbClr val="516274"/>
                </a:solidFill>
                <a:latin typeface="Arial"/>
                <a:ea typeface="Arial"/>
                <a:cs typeface="Arial"/>
              </a:rPr>
              <a:t>Register no. / Team ID: __________    Faculty guide: Dr. D. Palmani</a:t>
            </a:r>
          </a:p>
        </p:txBody>
      </p:sp>
    </p:spTree>
    <p:extLst>
      <p:ext uri="{BB962C8B-B14F-4D97-AF65-F5344CB8AC3E}">
        <p14:creationId xmlns:p14="http://schemas.microsoft.com/office/powerpoint/2010/main" val="585364793"/>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877D054-4DF0-4572-A6C4-45A9274EC4F4}"/>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653"/>
                </a:solidFill>
                <a:latin typeface="Arial"/>
                <a:ea typeface="Arial"/>
                <a:cs typeface="Arial"/>
              </a:defRPr>
            </a:defPPr>
          </a:lstStyle>
          <a:p xmlns:a="http://schemas.openxmlformats.org/drawingml/2006/main">
            <a:pPr>
              <a:defRPr sz="3300" b="1">
                <a:solidFill>
                  <a:srgbClr val="193653"/>
                </a:solidFill>
                <a:latin typeface="Arial"/>
                <a:ea typeface="Arial"/>
                <a:cs typeface="Arial"/>
              </a:defRPr>
            </a:pPr>
            <a:r>
              <a:rPr sz="3300" b="1">
                <a:solidFill>
                  <a:srgbClr val="193653"/>
                </a:solidFill>
                <a:latin typeface="Arial"/>
                <a:ea typeface="Arial"/>
                <a:cs typeface="Arial"/>
              </a:rPr>
              <a:t>Problem and automotive context</a:t>
            </a:r>
          </a:p>
        </p:txBody>
      </p:sp>
      <p:sp>
        <p:nvSpPr>
          <p:cNvPr id="2" name="">
            <a:extLst xmlns:a="http://schemas.openxmlformats.org/drawingml/2006/main">
              <a:ext uri="{FF2B5EF4-FFF2-40B4-BE49-F238E27FC236}">
                <a16:creationId xmlns:a16="http://schemas.microsoft.com/office/drawing/2014/main" id="{1C1D6765-EFCB-47C5-9E01-3349A69A2A2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HLD Navigator</a:t>
            </a:r>
          </a:p>
        </p:txBody>
      </p:sp>
      <p:sp>
        <p:nvSpPr>
          <p:cNvPr id="3" name="">
            <a:extLst xmlns:a="http://schemas.openxmlformats.org/drawingml/2006/main">
              <a:ext uri="{FF2B5EF4-FFF2-40B4-BE49-F238E27FC236}">
                <a16:creationId xmlns:a16="http://schemas.microsoft.com/office/drawing/2014/main" id="{D23AA7F6-6AE6-4DD5-976B-47FA094A2A75}"/>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369FA450-BB01-4710-8042-71E6E7AE2006}"/>
              </a:ext>
            </a:extLst>
          </p:cNvPr>
          <p:cNvSpPr>
            <a:spLocks xmlns:a="http://schemas.openxmlformats.org/drawingml/2006/main" noGrp="1"/>
          </p:cNvSpPr>
          <p:nvPr/>
        </p:nvSpPr>
        <p:spPr>
          <a:xfrm xmlns:a="http://schemas.openxmlformats.org/drawingml/2006/main">
            <a:off x="609600" y="1762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Manual HLD review</a:t>
            </a:r>
          </a:p>
        </p:txBody>
      </p:sp>
      <p:sp>
        <p:nvSpPr>
          <p:cNvPr id="5" name="">
            <a:extLst xmlns:a="http://schemas.openxmlformats.org/drawingml/2006/main">
              <a:ext uri="{FF2B5EF4-FFF2-40B4-BE49-F238E27FC236}">
                <a16:creationId xmlns:a16="http://schemas.microsoft.com/office/drawing/2014/main" id="{B9E79461-3204-425B-B00D-360BA4B25882}"/>
              </a:ext>
            </a:extLst>
          </p:cNvPr>
          <p:cNvSpPr>
            <a:spLocks xmlns:a="http://schemas.openxmlformats.org/drawingml/2006/main" noGrp="1"/>
          </p:cNvSpPr>
          <p:nvPr/>
        </p:nvSpPr>
        <p:spPr>
          <a:xfrm xmlns:a="http://schemas.openxmlformats.org/drawingml/2006/main">
            <a:off x="3981450" y="17621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Architects search long documents for components, ports, signals and dependencies across revisions.</a:t>
            </a:r>
          </a:p>
        </p:txBody>
      </p:sp>
      <p:sp>
        <p:nvSpPr>
          <p:cNvPr id="6" name="">
            <a:extLst xmlns:a="http://schemas.openxmlformats.org/drawingml/2006/main">
              <a:ext uri="{FF2B5EF4-FFF2-40B4-BE49-F238E27FC236}">
                <a16:creationId xmlns:a16="http://schemas.microsoft.com/office/drawing/2014/main" id="{17FCF525-63A5-43BF-A53B-EB7D3D74B56B}"/>
              </a:ext>
            </a:extLst>
          </p:cNvPr>
          <p:cNvSpPr>
            <a:spLocks xmlns:a="http://schemas.openxmlformats.org/drawingml/2006/main" noGrp="1"/>
          </p:cNvSpPr>
          <p:nvPr/>
        </p:nvSpPr>
        <p:spPr>
          <a:xfrm xmlns:a="http://schemas.openxmlformats.org/drawingml/2006/main">
            <a:off x="609600" y="27908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Engineering risk</a:t>
            </a:r>
          </a:p>
        </p:txBody>
      </p:sp>
      <p:sp>
        <p:nvSpPr>
          <p:cNvPr id="7" name="">
            <a:extLst xmlns:a="http://schemas.openxmlformats.org/drawingml/2006/main">
              <a:ext uri="{FF2B5EF4-FFF2-40B4-BE49-F238E27FC236}">
                <a16:creationId xmlns:a16="http://schemas.microsoft.com/office/drawing/2014/main" id="{BDDA556F-A989-456B-A650-9E0E7A2EC901}"/>
              </a:ext>
            </a:extLst>
          </p:cNvPr>
          <p:cNvSpPr>
            <a:spLocks xmlns:a="http://schemas.openxmlformats.org/drawingml/2006/main" noGrp="1"/>
          </p:cNvSpPr>
          <p:nvPr/>
        </p:nvSpPr>
        <p:spPr>
          <a:xfrm xmlns:a="http://schemas.openxmlformats.org/drawingml/2006/main">
            <a:off x="3981450" y="27908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Missing links, inconsistent terminology and interface mismatches can obscure the design.</a:t>
            </a:r>
          </a:p>
        </p:txBody>
      </p:sp>
      <p:sp>
        <p:nvSpPr>
          <p:cNvPr id="8" name="">
            <a:extLst xmlns:a="http://schemas.openxmlformats.org/drawingml/2006/main">
              <a:ext uri="{FF2B5EF4-FFF2-40B4-BE49-F238E27FC236}">
                <a16:creationId xmlns:a16="http://schemas.microsoft.com/office/drawing/2014/main" id="{5CD717AD-199F-403D-8344-BF91A5330AC0}"/>
              </a:ext>
            </a:extLst>
          </p:cNvPr>
          <p:cNvSpPr>
            <a:spLocks xmlns:a="http://schemas.openxmlformats.org/drawingml/2006/main" noGrp="1"/>
          </p:cNvSpPr>
          <p:nvPr/>
        </p:nvSpPr>
        <p:spPr>
          <a:xfrm xmlns:a="http://schemas.openxmlformats.org/drawingml/2006/main">
            <a:off x="609600" y="3819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Intended users</a:t>
            </a:r>
          </a:p>
        </p:txBody>
      </p:sp>
      <p:sp>
        <p:nvSpPr>
          <p:cNvPr id="9" name="">
            <a:extLst xmlns:a="http://schemas.openxmlformats.org/drawingml/2006/main">
              <a:ext uri="{FF2B5EF4-FFF2-40B4-BE49-F238E27FC236}">
                <a16:creationId xmlns:a16="http://schemas.microsoft.com/office/drawing/2014/main" id="{FAA7B23E-22C2-4297-BA6A-7DEDEE2A786E}"/>
              </a:ext>
            </a:extLst>
          </p:cNvPr>
          <p:cNvSpPr>
            <a:spLocks xmlns:a="http://schemas.openxmlformats.org/drawingml/2006/main" noGrp="1"/>
          </p:cNvSpPr>
          <p:nvPr/>
        </p:nvSpPr>
        <p:spPr>
          <a:xfrm xmlns:a="http://schemas.openxmlformats.org/drawingml/2006/main">
            <a:off x="3981450" y="38195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System/AUTOSAR architects, software developers, integration engineers and test engineers.</a:t>
            </a:r>
          </a:p>
        </p:txBody>
      </p:sp>
      <p:sp>
        <p:nvSpPr>
          <p:cNvPr id="10" name="">
            <a:extLst xmlns:a="http://schemas.openxmlformats.org/drawingml/2006/main">
              <a:ext uri="{FF2B5EF4-FFF2-40B4-BE49-F238E27FC236}">
                <a16:creationId xmlns:a16="http://schemas.microsoft.com/office/drawing/2014/main" id="{7A1DF014-EA8F-478A-A78B-8142857A4178}"/>
              </a:ext>
            </a:extLst>
          </p:cNvPr>
          <p:cNvSpPr>
            <a:spLocks xmlns:a="http://schemas.openxmlformats.org/drawingml/2006/main" noGrp="1"/>
          </p:cNvSpPr>
          <p:nvPr/>
        </p:nvSpPr>
        <p:spPr>
          <a:xfrm xmlns:a="http://schemas.openxmlformats.org/drawingml/2006/main">
            <a:off x="609600" y="48482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Success measures</a:t>
            </a:r>
          </a:p>
        </p:txBody>
      </p:sp>
      <p:sp>
        <p:nvSpPr>
          <p:cNvPr id="11" name="">
            <a:extLst xmlns:a="http://schemas.openxmlformats.org/drawingml/2006/main">
              <a:ext uri="{FF2B5EF4-FFF2-40B4-BE49-F238E27FC236}">
                <a16:creationId xmlns:a16="http://schemas.microsoft.com/office/drawing/2014/main" id="{812B81E0-489E-46FD-B56C-3DE750F1DB41}"/>
              </a:ext>
            </a:extLst>
          </p:cNvPr>
          <p:cNvSpPr>
            <a:spLocks xmlns:a="http://schemas.openxmlformats.org/drawingml/2006/main" noGrp="1"/>
          </p:cNvSpPr>
          <p:nvPr/>
        </p:nvSpPr>
        <p:spPr>
          <a:xfrm xmlns:a="http://schemas.openxmlformats.org/drawingml/2006/main">
            <a:off x="3981450" y="48482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Entity correctness, citation support, revision findings and active review/correction time.</a:t>
            </a:r>
          </a:p>
        </p:txBody>
      </p:sp>
    </p:spTree>
    <p:extLst>
      <p:ext uri="{BB962C8B-B14F-4D97-AF65-F5344CB8AC3E}">
        <p14:creationId xmlns:p14="http://schemas.microsoft.com/office/powerpoint/2010/main" val="41246322"/>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EE9F3E-607F-4D99-A50C-E2F0D2D72285}"/>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653"/>
                </a:solidFill>
                <a:latin typeface="Arial"/>
                <a:ea typeface="Arial"/>
                <a:cs typeface="Arial"/>
              </a:defRPr>
            </a:defPPr>
          </a:lstStyle>
          <a:p xmlns:a="http://schemas.openxmlformats.org/drawingml/2006/main">
            <a:pPr>
              <a:defRPr sz="3300" b="1">
                <a:solidFill>
                  <a:srgbClr val="193653"/>
                </a:solidFill>
                <a:latin typeface="Arial"/>
                <a:ea typeface="Arial"/>
                <a:cs typeface="Arial"/>
              </a:defRPr>
            </a:pPr>
            <a:r>
              <a:rPr sz="3300" b="1">
                <a:solidFill>
                  <a:srgbClr val="193653"/>
                </a:solidFill>
                <a:latin typeface="Arial"/>
                <a:ea typeface="Arial"/>
                <a:cs typeface="Arial"/>
              </a:rPr>
              <a:t>CS1 scope and current implementation</a:t>
            </a:r>
          </a:p>
        </p:txBody>
      </p:sp>
      <p:sp>
        <p:nvSpPr>
          <p:cNvPr id="2" name="">
            <a:extLst xmlns:a="http://schemas.openxmlformats.org/drawingml/2006/main">
              <a:ext uri="{FF2B5EF4-FFF2-40B4-BE49-F238E27FC236}">
                <a16:creationId xmlns:a16="http://schemas.microsoft.com/office/drawing/2014/main" id="{2AC392A2-B28A-426D-89E4-4F21B21A863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HLD Navigator</a:t>
            </a:r>
          </a:p>
        </p:txBody>
      </p:sp>
      <p:sp>
        <p:nvSpPr>
          <p:cNvPr id="3" name="">
            <a:extLst xmlns:a="http://schemas.openxmlformats.org/drawingml/2006/main">
              <a:ext uri="{FF2B5EF4-FFF2-40B4-BE49-F238E27FC236}">
                <a16:creationId xmlns:a16="http://schemas.microsoft.com/office/drawing/2014/main" id="{4DE352ED-809E-41A3-92EE-AD10DD2B72FA}"/>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4556AEA6-5C11-4BC9-AAA2-0C700C1D575F}"/>
              </a:ext>
            </a:extLst>
          </p:cNvPr>
          <p:cNvGraphicFramePr/>
          <p:nvPr/>
        </p:nvGraphicFramePr>
        <p:xfrm>
          <a:off xmlns:a="http://schemas.openxmlformats.org/drawingml/2006/main" x="609600" y="1619250"/>
          <a:ext xmlns:a="http://schemas.openxmlformats.org/drawingml/2006/main" cx="10972800" cy="4143375"/>
        </p:xfrm>
        <a:graphic xmlns:a="http://schemas.openxmlformats.org/drawingml/2006/main">
          <a:graphicData uri="http://schemas.openxmlformats.org/drawingml/2006/table">
            <a:tbl>
              <a:tblPr/>
              <a:tblGrid>
                <a:gridCol w="3429000"/>
                <a:gridCol w="7543800"/>
              </a:tblGrid>
              <a:tr h="690563">
                <a:tc>
                  <a:txBody>
                    <a:bodyPr/>
                    <a:lstStyle/>
                    <a:p>
                      <a:r>
                        <a:rPr sz="1800" b="1">
                          <a:solidFill>
                            <a:srgbClr val="FFFFFF"/>
                          </a:solidFill>
                          <a:latin typeface="Arial"/>
                          <a:ea typeface="Arial"/>
                          <a:cs typeface="Arial"/>
                        </a:rPr>
                        <a:t>Required capability</a:t>
                      </a:r>
                    </a:p>
                  </a:txBody>
                  <a:tcPr marL="91440" marR="91440" marT="45720" marB="45720">
                    <a:solidFill>
                      <a:srgbClr val="193653"/>
                    </a:solidFill>
                  </a:tcPr>
                </a:tc>
                <a:tc>
                  <a:txBody>
                    <a:bodyPr/>
                    <a:lstStyle/>
                    <a:p>
                      <a:r>
                        <a:rPr sz="1800" b="1">
                          <a:solidFill>
                            <a:srgbClr val="FFFFFF"/>
                          </a:solidFill>
                          <a:latin typeface="Arial"/>
                          <a:ea typeface="Arial"/>
                          <a:cs typeface="Arial"/>
                        </a:rPr>
                        <a:t>Project implementation / boundary</a:t>
                      </a:r>
                    </a:p>
                  </a:txBody>
                  <a:tcPr marL="91440" marR="91440" marT="45720" marB="45720">
                    <a:solidFill>
                      <a:srgbClr val="193653"/>
                    </a:solidFill>
                  </a:tcPr>
                </a:tc>
              </a:tr>
              <a:tr h="690563">
                <a:tc>
                  <a:txBody>
                    <a:bodyPr/>
                    <a:lstStyle/>
                    <a:p>
                      <a:r>
                        <a:rPr sz="1800" b="0">
                          <a:solidFill>
                            <a:srgbClr val="193653"/>
                          </a:solidFill>
                          <a:latin typeface="Arial"/>
                          <a:ea typeface="Arial"/>
                          <a:cs typeface="Arial"/>
                        </a:rPr>
                        <a:t>Upload and extraction</a:t>
                      </a:r>
                    </a:p>
                  </a:txBody>
                  <a:tcPr marL="91440" marR="91440" marT="45720" marB="45720">
                    <a:solidFill>
                      <a:srgbClr val="FFFFFF"/>
                    </a:solidFill>
                  </a:tcPr>
                </a:tc>
                <a:tc>
                  <a:txBody>
                    <a:bodyPr/>
                    <a:lstStyle/>
                    <a:p>
                      <a:r>
                        <a:rPr sz="1800" b="0">
                          <a:solidFill>
                            <a:srgbClr val="193653"/>
                          </a:solidFill>
                          <a:latin typeface="Arial"/>
                          <a:ea typeface="Arial"/>
                          <a:cs typeface="Arial"/>
                        </a:rPr>
                        <a:t>PDF, Markdown and TXT. Supported prose/table patterns.</a:t>
                      </a:r>
                    </a:p>
                  </a:txBody>
                  <a:tcPr marL="91440" marR="91440" marT="45720" marB="45720">
                    <a:solidFill>
                      <a:srgbClr val="FFFFFF"/>
                    </a:solidFill>
                  </a:tcPr>
                </a:tc>
              </a:tr>
              <a:tr h="690563">
                <a:tc>
                  <a:txBody>
                    <a:bodyPr/>
                    <a:lstStyle/>
                    <a:p>
                      <a:r>
                        <a:rPr sz="1800" b="0">
                          <a:solidFill>
                            <a:srgbClr val="193653"/>
                          </a:solidFill>
                          <a:latin typeface="Arial"/>
                          <a:ea typeface="Arial"/>
                          <a:cs typeface="Arial"/>
                        </a:rPr>
                        <a:t>Architecture knowledge</a:t>
                      </a:r>
                    </a:p>
                  </a:txBody>
                  <a:tcPr marL="91440" marR="91440" marT="45720" marB="45720">
                    <a:solidFill>
                      <a:srgbClr val="EDF2F7"/>
                    </a:solidFill>
                  </a:tcPr>
                </a:tc>
                <a:tc>
                  <a:txBody>
                    <a:bodyPr/>
                    <a:lstStyle/>
                    <a:p>
                      <a:r>
                        <a:rPr sz="1800" b="0">
                          <a:solidFill>
                            <a:srgbClr val="193653"/>
                          </a:solidFill>
                          <a:latin typeface="Arial"/>
                          <a:ea typeface="Arial"/>
                          <a:cs typeface="Arial"/>
                        </a:rPr>
                        <a:t>Components, interfaces, ports, signals, flows and declared dependencies.</a:t>
                      </a:r>
                    </a:p>
                  </a:txBody>
                  <a:tcPr marL="91440" marR="91440" marT="45720" marB="45720">
                    <a:solidFill>
                      <a:srgbClr val="EDF2F7"/>
                    </a:solidFill>
                  </a:tcPr>
                </a:tc>
              </a:tr>
              <a:tr h="690563">
                <a:tc>
                  <a:txBody>
                    <a:bodyPr/>
                    <a:lstStyle/>
                    <a:p>
                      <a:r>
                        <a:rPr sz="1800" b="0">
                          <a:solidFill>
                            <a:srgbClr val="193653"/>
                          </a:solidFill>
                          <a:latin typeface="Arial"/>
                          <a:ea typeface="Arial"/>
                          <a:cs typeface="Arial"/>
                        </a:rPr>
                        <a:t>Search and reports</a:t>
                      </a:r>
                    </a:p>
                  </a:txBody>
                  <a:tcPr marL="91440" marR="91440" marT="45720" marB="45720">
                    <a:solidFill>
                      <a:srgbClr val="FFFFFF"/>
                    </a:solidFill>
                  </a:tcPr>
                </a:tc>
                <a:tc>
                  <a:txBody>
                    <a:bodyPr/>
                    <a:lstStyle/>
                    <a:p>
                      <a:r>
                        <a:rPr sz="1800" b="0">
                          <a:solidFill>
                            <a:srgbClr val="193653"/>
                          </a:solidFill>
                          <a:latin typeface="Arial"/>
                          <a:ea typeface="Arial"/>
                          <a:cs typeface="Arial"/>
                        </a:rPr>
                        <a:t>Cited evidence retrieval, reviewed inventory and structured findings.</a:t>
                      </a:r>
                    </a:p>
                  </a:txBody>
                  <a:tcPr marL="91440" marR="91440" marT="45720" marB="45720">
                    <a:solidFill>
                      <a:srgbClr val="FFFFFF"/>
                    </a:solidFill>
                  </a:tcPr>
                </a:tc>
              </a:tr>
              <a:tr h="690563">
                <a:tc>
                  <a:txBody>
                    <a:bodyPr/>
                    <a:lstStyle/>
                    <a:p>
                      <a:r>
                        <a:rPr sz="1800" b="0">
                          <a:solidFill>
                            <a:srgbClr val="193653"/>
                          </a:solidFill>
                          <a:latin typeface="Arial"/>
                          <a:ea typeface="Arial"/>
                          <a:cs typeface="Arial"/>
                        </a:rPr>
                        <a:t>Revision analysis</a:t>
                      </a:r>
                    </a:p>
                  </a:txBody>
                  <a:tcPr marL="91440" marR="91440" marT="45720" marB="45720">
                    <a:solidFill>
                      <a:srgbClr val="EDF2F7"/>
                    </a:solidFill>
                  </a:tcPr>
                </a:tc>
                <a:tc>
                  <a:txBody>
                    <a:bodyPr/>
                    <a:lstStyle/>
                    <a:p>
                      <a:r>
                        <a:rPr sz="1800" b="0">
                          <a:solidFill>
                            <a:srgbClr val="193653"/>
                          </a:solidFill>
                          <a:latin typeface="Arial"/>
                          <a:ea typeface="Arial"/>
                          <a:cs typeface="Arial"/>
                        </a:rPr>
                        <a:t>Reference, provider/consumer and type checks with impact paths.</a:t>
                      </a:r>
                    </a:p>
                  </a:txBody>
                  <a:tcPr marL="91440" marR="91440" marT="45720" marB="45720">
                    <a:solidFill>
                      <a:srgbClr val="EDF2F7"/>
                    </a:solidFill>
                  </a:tcPr>
                </a:tc>
              </a:tr>
              <a:tr h="690563">
                <a:tc>
                  <a:txBody>
                    <a:bodyPr/>
                    <a:lstStyle/>
                    <a:p>
                      <a:r>
                        <a:rPr sz="1800" b="0">
                          <a:solidFill>
                            <a:srgbClr val="193653"/>
                          </a:solidFill>
                          <a:latin typeface="Arial"/>
                          <a:ea typeface="Arial"/>
                          <a:cs typeface="Arial"/>
                        </a:rPr>
                        <a:t>OCR and learned answers</a:t>
                      </a:r>
                    </a:p>
                  </a:txBody>
                  <a:tcPr marL="91440" marR="91440" marT="45720" marB="45720">
                    <a:solidFill>
                      <a:srgbClr val="FFFFFF"/>
                    </a:solidFill>
                  </a:tcPr>
                </a:tc>
                <a:tc>
                  <a:txBody>
                    <a:bodyPr/>
                    <a:lstStyle/>
                    <a:p>
                      <a:r>
                        <a:rPr sz="1800" b="0">
                          <a:solidFill>
                            <a:srgbClr val="193653"/>
                          </a:solidFill>
                          <a:latin typeface="Arial"/>
                          <a:ea typeface="Arial"/>
                          <a:cs typeface="Arial"/>
                        </a:rPr>
                        <a:t>Optional adapters. Real OCR integration verified; answer semantics reviewed separately.</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A2F8521-F5EC-4158-AA1D-38AA55C265F4}"/>
              </a:ext>
            </a:extLst>
          </p:cNvPr>
          <p:cNvSpPr>
            <a:spLocks xmlns:a="http://schemas.openxmlformats.org/drawingml/2006/main" noGrp="1"/>
          </p:cNvSpPr>
          <p:nvPr/>
        </p:nvSpPr>
        <p:spPr>
          <a:xfrm xmlns:a="http://schemas.openxmlformats.org/drawingml/2006/main">
            <a:off x="609600" y="59626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76CAE"/>
                </a:solidFill>
                <a:latin typeface="Arial"/>
                <a:ea typeface="Arial"/>
                <a:cs typeface="Arial"/>
              </a:defRPr>
            </a:defPPr>
          </a:lstStyle>
          <a:p xmlns:a="http://schemas.openxmlformats.org/drawingml/2006/main">
            <a:pPr>
              <a:defRPr sz="1725" b="1">
                <a:solidFill>
                  <a:srgbClr val="276CAE"/>
                </a:solidFill>
                <a:latin typeface="Arial"/>
                <a:ea typeface="Arial"/>
                <a:cs typeface="Arial"/>
              </a:defRPr>
            </a:pPr>
            <a:r>
              <a:rPr sz="1725" b="1">
                <a:solidFill>
                  <a:srgbClr val="276CAE"/>
                </a:solidFill>
                <a:latin typeface="Arial"/>
                <a:ea typeface="Arial"/>
                <a:cs typeface="Arial"/>
              </a:rPr>
              <a:t>Human approval remains mandatory before architecture decisions.</a:t>
            </a:r>
          </a:p>
        </p:txBody>
      </p:sp>
    </p:spTree>
    <p:extLst>
      <p:ext uri="{BB962C8B-B14F-4D97-AF65-F5344CB8AC3E}">
        <p14:creationId xmlns:p14="http://schemas.microsoft.com/office/powerpoint/2010/main" val="1498664434"/>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E2764C3-04A4-4FBC-BF38-F183A2B61D8C}"/>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653"/>
                </a:solidFill>
                <a:latin typeface="Arial"/>
                <a:ea typeface="Arial"/>
                <a:cs typeface="Arial"/>
              </a:defRPr>
            </a:defPPr>
          </a:lstStyle>
          <a:p xmlns:a="http://schemas.openxmlformats.org/drawingml/2006/main">
            <a:pPr>
              <a:defRPr sz="3300" b="1">
                <a:solidFill>
                  <a:srgbClr val="193653"/>
                </a:solidFill>
                <a:latin typeface="Arial"/>
                <a:ea typeface="Arial"/>
                <a:cs typeface="Arial"/>
              </a:defRPr>
            </a:pPr>
            <a:r>
              <a:rPr sz="3300" b="1">
                <a:solidFill>
                  <a:srgbClr val="193653"/>
                </a:solidFill>
                <a:latin typeface="Arial"/>
                <a:ea typeface="Arial"/>
                <a:cs typeface="Arial"/>
              </a:rPr>
              <a:t>Approach selection and AI/ML fundamentals</a:t>
            </a:r>
          </a:p>
        </p:txBody>
      </p:sp>
      <p:sp>
        <p:nvSpPr>
          <p:cNvPr id="2" name="">
            <a:extLst xmlns:a="http://schemas.openxmlformats.org/drawingml/2006/main">
              <a:ext uri="{FF2B5EF4-FFF2-40B4-BE49-F238E27FC236}">
                <a16:creationId xmlns:a16="http://schemas.microsoft.com/office/drawing/2014/main" id="{2DCE8CFC-9FCA-4A8F-95AD-BF6DE821329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HLD Navigator</a:t>
            </a:r>
          </a:p>
        </p:txBody>
      </p:sp>
      <p:sp>
        <p:nvSpPr>
          <p:cNvPr id="3" name="">
            <a:extLst xmlns:a="http://schemas.openxmlformats.org/drawingml/2006/main">
              <a:ext uri="{FF2B5EF4-FFF2-40B4-BE49-F238E27FC236}">
                <a16:creationId xmlns:a16="http://schemas.microsoft.com/office/drawing/2014/main" id="{B011A864-4074-4F10-A3A4-44401E8F2F67}"/>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40E76743-D548-4516-81B6-CF261C46F9C1}"/>
              </a:ext>
            </a:extLst>
          </p:cNvPr>
          <p:cNvSpPr>
            <a:spLocks xmlns:a="http://schemas.openxmlformats.org/drawingml/2006/main" noGrp="1"/>
          </p:cNvSpPr>
          <p:nvPr/>
        </p:nvSpPr>
        <p:spPr>
          <a:xfrm xmlns:a="http://schemas.openxmlformats.org/drawingml/2006/main">
            <a:off x="609600" y="1762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Pattern extraction</a:t>
            </a:r>
          </a:p>
        </p:txBody>
      </p:sp>
      <p:sp>
        <p:nvSpPr>
          <p:cNvPr id="5" name="">
            <a:extLst xmlns:a="http://schemas.openxmlformats.org/drawingml/2006/main">
              <a:ext uri="{FF2B5EF4-FFF2-40B4-BE49-F238E27FC236}">
                <a16:creationId xmlns:a16="http://schemas.microsoft.com/office/drawing/2014/main" id="{2049704B-FEB5-4DFE-8C75-F831D243FD3B}"/>
              </a:ext>
            </a:extLst>
          </p:cNvPr>
          <p:cNvSpPr>
            <a:spLocks xmlns:a="http://schemas.openxmlformats.org/drawingml/2006/main" noGrp="1"/>
          </p:cNvSpPr>
          <p:nvPr/>
        </p:nvSpPr>
        <p:spPr>
          <a:xfrm xmlns:a="http://schemas.openxmlformats.org/drawingml/2006/main">
            <a:off x="3981450" y="17621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Auditable recognition of supported architecture statements with explicit warnings for uncertainty.</a:t>
            </a:r>
          </a:p>
        </p:txBody>
      </p:sp>
      <p:sp>
        <p:nvSpPr>
          <p:cNvPr id="6" name="">
            <a:extLst xmlns:a="http://schemas.openxmlformats.org/drawingml/2006/main">
              <a:ext uri="{FF2B5EF4-FFF2-40B4-BE49-F238E27FC236}">
                <a16:creationId xmlns:a16="http://schemas.microsoft.com/office/drawing/2014/main" id="{BC4965D1-7BB0-488C-8AF4-07D60BC5D90D}"/>
              </a:ext>
            </a:extLst>
          </p:cNvPr>
          <p:cNvSpPr>
            <a:spLocks xmlns:a="http://schemas.openxmlformats.org/drawingml/2006/main" noGrp="1"/>
          </p:cNvSpPr>
          <p:nvPr/>
        </p:nvSpPr>
        <p:spPr>
          <a:xfrm xmlns:a="http://schemas.openxmlformats.org/drawingml/2006/main">
            <a:off x="609600" y="27908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Lexical baseline</a:t>
            </a:r>
          </a:p>
        </p:txBody>
      </p:sp>
      <p:sp>
        <p:nvSpPr>
          <p:cNvPr id="7" name="">
            <a:extLst xmlns:a="http://schemas.openxmlformats.org/drawingml/2006/main">
              <a:ext uri="{FF2B5EF4-FFF2-40B4-BE49-F238E27FC236}">
                <a16:creationId xmlns:a16="http://schemas.microsoft.com/office/drawing/2014/main" id="{5BB9EA04-5B88-4EC3-A168-761D7CD09501}"/>
              </a:ext>
            </a:extLst>
          </p:cNvPr>
          <p:cNvSpPr>
            <a:spLocks xmlns:a="http://schemas.openxmlformats.org/drawingml/2006/main" noGrp="1"/>
          </p:cNvSpPr>
          <p:nvPr/>
        </p:nvSpPr>
        <p:spPr>
          <a:xfrm xmlns:a="http://schemas.openxmlformats.org/drawingml/2006/main">
            <a:off x="3981450" y="27908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SQLite FTS5 searches source blocks and approved extracted facts without model inference.</a:t>
            </a:r>
          </a:p>
        </p:txBody>
      </p:sp>
      <p:sp>
        <p:nvSpPr>
          <p:cNvPr id="8" name="">
            <a:extLst xmlns:a="http://schemas.openxmlformats.org/drawingml/2006/main">
              <a:ext uri="{FF2B5EF4-FFF2-40B4-BE49-F238E27FC236}">
                <a16:creationId xmlns:a16="http://schemas.microsoft.com/office/drawing/2014/main" id="{EDA481BC-FD23-4DEC-8BBA-47591FB51281}"/>
              </a:ext>
            </a:extLst>
          </p:cNvPr>
          <p:cNvSpPr>
            <a:spLocks xmlns:a="http://schemas.openxmlformats.org/drawingml/2006/main" noGrp="1"/>
          </p:cNvSpPr>
          <p:nvPr/>
        </p:nvSpPr>
        <p:spPr>
          <a:xfrm xmlns:a="http://schemas.openxmlformats.org/drawingml/2006/main">
            <a:off x="609600" y="3819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Learned retrieval</a:t>
            </a:r>
          </a:p>
        </p:txBody>
      </p:sp>
      <p:sp>
        <p:nvSpPr>
          <p:cNvPr id="9" name="">
            <a:extLst xmlns:a="http://schemas.openxmlformats.org/drawingml/2006/main">
              <a:ext uri="{FF2B5EF4-FFF2-40B4-BE49-F238E27FC236}">
                <a16:creationId xmlns:a16="http://schemas.microsoft.com/office/drawing/2014/main" id="{361F7B25-D8B7-4A09-B378-029470B821ED}"/>
              </a:ext>
            </a:extLst>
          </p:cNvPr>
          <p:cNvSpPr>
            <a:spLocks xmlns:a="http://schemas.openxmlformats.org/drawingml/2006/main" noGrp="1"/>
          </p:cNvSpPr>
          <p:nvPr/>
        </p:nvSpPr>
        <p:spPr>
          <a:xfrm xmlns:a="http://schemas.openxmlformats.org/drawingml/2006/main">
            <a:off x="3981450" y="38195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Pre-trained BGE embeddings with persistent cosine ranking provide a measured comparison.</a:t>
            </a:r>
          </a:p>
        </p:txBody>
      </p:sp>
      <p:sp>
        <p:nvSpPr>
          <p:cNvPr id="10" name="">
            <a:extLst xmlns:a="http://schemas.openxmlformats.org/drawingml/2006/main">
              <a:ext uri="{FF2B5EF4-FFF2-40B4-BE49-F238E27FC236}">
                <a16:creationId xmlns:a16="http://schemas.microsoft.com/office/drawing/2014/main" id="{81674ABB-BB86-4AC2-A559-5860378A7F5B}"/>
              </a:ext>
            </a:extLst>
          </p:cNvPr>
          <p:cNvSpPr>
            <a:spLocks xmlns:a="http://schemas.openxmlformats.org/drawingml/2006/main" noGrp="1"/>
          </p:cNvSpPr>
          <p:nvPr/>
        </p:nvSpPr>
        <p:spPr>
          <a:xfrm xmlns:a="http://schemas.openxmlformats.org/drawingml/2006/main">
            <a:off x="609600" y="48482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Grounded generation</a:t>
            </a:r>
          </a:p>
        </p:txBody>
      </p:sp>
      <p:sp>
        <p:nvSpPr>
          <p:cNvPr id="11" name="">
            <a:extLst xmlns:a="http://schemas.openxmlformats.org/drawingml/2006/main">
              <a:ext uri="{FF2B5EF4-FFF2-40B4-BE49-F238E27FC236}">
                <a16:creationId xmlns:a16="http://schemas.microsoft.com/office/drawing/2014/main" id="{36B673F9-21AA-49DD-A6B6-B7C9DD85A8E4}"/>
              </a:ext>
            </a:extLst>
          </p:cNvPr>
          <p:cNvSpPr>
            <a:spLocks xmlns:a="http://schemas.openxmlformats.org/drawingml/2006/main" noGrp="1"/>
          </p:cNvSpPr>
          <p:nvPr/>
        </p:nvSpPr>
        <p:spPr>
          <a:xfrm xmlns:a="http://schemas.openxmlformats.org/drawingml/2006/main">
            <a:off x="3981450" y="48482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A local pre-trained answer model must return structured claims with literal citations. Failed contract checks abstain.</a:t>
            </a:r>
          </a:p>
        </p:txBody>
      </p:sp>
    </p:spTree>
    <p:extLst>
      <p:ext uri="{BB962C8B-B14F-4D97-AF65-F5344CB8AC3E}">
        <p14:creationId xmlns:p14="http://schemas.microsoft.com/office/powerpoint/2010/main" val="1073879349"/>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C6B78DC-FAF6-41E8-AFB1-04E9585ED3EC}"/>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653"/>
                </a:solidFill>
                <a:latin typeface="Arial"/>
                <a:ea typeface="Arial"/>
                <a:cs typeface="Arial"/>
              </a:defRPr>
            </a:defPPr>
          </a:lstStyle>
          <a:p xmlns:a="http://schemas.openxmlformats.org/drawingml/2006/main">
            <a:pPr>
              <a:defRPr sz="3300" b="1">
                <a:solidFill>
                  <a:srgbClr val="193653"/>
                </a:solidFill>
                <a:latin typeface="Arial"/>
                <a:ea typeface="Arial"/>
                <a:cs typeface="Arial"/>
              </a:defRPr>
            </a:pPr>
            <a:r>
              <a:rPr sz="3300" b="1">
                <a:solidFill>
                  <a:srgbClr val="193653"/>
                </a:solidFill>
                <a:latin typeface="Arial"/>
                <a:ea typeface="Arial"/>
                <a:cs typeface="Arial"/>
              </a:rPr>
              <a:t>Input data, preprocessing and EDA</a:t>
            </a:r>
          </a:p>
        </p:txBody>
      </p:sp>
      <p:sp>
        <p:nvSpPr>
          <p:cNvPr id="2" name="">
            <a:extLst xmlns:a="http://schemas.openxmlformats.org/drawingml/2006/main">
              <a:ext uri="{FF2B5EF4-FFF2-40B4-BE49-F238E27FC236}">
                <a16:creationId xmlns:a16="http://schemas.microsoft.com/office/drawing/2014/main" id="{E8A3BB2D-E591-4D64-825A-35ED2F868D3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HLD Navigator</a:t>
            </a:r>
          </a:p>
        </p:txBody>
      </p:sp>
      <p:sp>
        <p:nvSpPr>
          <p:cNvPr id="3" name="">
            <a:extLst xmlns:a="http://schemas.openxmlformats.org/drawingml/2006/main">
              <a:ext uri="{FF2B5EF4-FFF2-40B4-BE49-F238E27FC236}">
                <a16:creationId xmlns:a16="http://schemas.microsoft.com/office/drawing/2014/main" id="{8F3C0317-AF5D-4DE8-A0B6-D7DC4B1868D8}"/>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352D14DE-6432-4CB0-9D2C-2ED1540E272B}"/>
              </a:ext>
            </a:extLst>
          </p:cNvPr>
          <p:cNvSpPr>
            <a:spLocks xmlns:a="http://schemas.openxmlformats.org/drawingml/2006/main" noGrp="1"/>
          </p:cNvSpPr>
          <p:nvPr/>
        </p:nvSpPr>
        <p:spPr>
          <a:xfrm xmlns:a="http://schemas.openxmlformats.org/drawingml/2006/main">
            <a:off x="609600" y="1762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Input corpus</a:t>
            </a:r>
          </a:p>
        </p:txBody>
      </p:sp>
      <p:sp>
        <p:nvSpPr>
          <p:cNvPr id="5" name="">
            <a:extLst xmlns:a="http://schemas.openxmlformats.org/drawingml/2006/main">
              <a:ext uri="{FF2B5EF4-FFF2-40B4-BE49-F238E27FC236}">
                <a16:creationId xmlns:a16="http://schemas.microsoft.com/office/drawing/2014/main" id="{EB92AF9B-AF55-486D-AB38-9FBB20F6CCC2}"/>
              </a:ext>
            </a:extLst>
          </p:cNvPr>
          <p:cNvSpPr>
            <a:spLocks xmlns:a="http://schemas.openxmlformats.org/drawingml/2006/main" noGrp="1"/>
          </p:cNvSpPr>
          <p:nvPr/>
        </p:nvSpPr>
        <p:spPr>
          <a:xfrm xmlns:a="http://schemas.openxmlformats.org/drawingml/2006/main">
            <a:off x="3981450" y="17621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Synthetic torque HLD and revision fixtures. Five pinned public KUKSA documents; three retain the unchanged extraction baseline.</a:t>
            </a:r>
          </a:p>
        </p:txBody>
      </p:sp>
      <p:sp>
        <p:nvSpPr>
          <p:cNvPr id="6" name="">
            <a:extLst xmlns:a="http://schemas.openxmlformats.org/drawingml/2006/main">
              <a:ext uri="{FF2B5EF4-FFF2-40B4-BE49-F238E27FC236}">
                <a16:creationId xmlns:a16="http://schemas.microsoft.com/office/drawing/2014/main" id="{5C2604E9-C4F0-41EB-80EB-43A50A2E6328}"/>
              </a:ext>
            </a:extLst>
          </p:cNvPr>
          <p:cNvSpPr>
            <a:spLocks xmlns:a="http://schemas.openxmlformats.org/drawingml/2006/main" noGrp="1"/>
          </p:cNvSpPr>
          <p:nvPr/>
        </p:nvSpPr>
        <p:spPr>
          <a:xfrm xmlns:a="http://schemas.openxmlformats.org/drawingml/2006/main">
            <a:off x="609600" y="27908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Quality checks</a:t>
            </a:r>
          </a:p>
        </p:txBody>
      </p:sp>
      <p:sp>
        <p:nvSpPr>
          <p:cNvPr id="7" name="">
            <a:extLst xmlns:a="http://schemas.openxmlformats.org/drawingml/2006/main">
              <a:ext uri="{FF2B5EF4-FFF2-40B4-BE49-F238E27FC236}">
                <a16:creationId xmlns:a16="http://schemas.microsoft.com/office/drawing/2014/main" id="{51CA4B83-E5D3-44CC-AC6B-A2EE11F2EFC5}"/>
              </a:ext>
            </a:extLst>
          </p:cNvPr>
          <p:cNvSpPr>
            <a:spLocks xmlns:a="http://schemas.openxmlformats.org/drawingml/2006/main" noGrp="1"/>
          </p:cNvSpPr>
          <p:nvPr/>
        </p:nvSpPr>
        <p:spPr>
          <a:xfrm xmlns:a="http://schemas.openxmlformats.org/drawingml/2006/main">
            <a:off x="3981450" y="27908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File hashes, file type/size, empty pages, text availability, unsupported clauses and unknown table columns.</a:t>
            </a:r>
          </a:p>
        </p:txBody>
      </p:sp>
      <p:sp>
        <p:nvSpPr>
          <p:cNvPr id="8" name="">
            <a:extLst xmlns:a="http://schemas.openxmlformats.org/drawingml/2006/main">
              <a:ext uri="{FF2B5EF4-FFF2-40B4-BE49-F238E27FC236}">
                <a16:creationId xmlns:a16="http://schemas.microsoft.com/office/drawing/2014/main" id="{0F27CF34-3CA6-4C12-9859-DF916C9BDE76}"/>
              </a:ext>
            </a:extLst>
          </p:cNvPr>
          <p:cNvSpPr>
            <a:spLocks xmlns:a="http://schemas.openxmlformats.org/drawingml/2006/main" noGrp="1"/>
          </p:cNvSpPr>
          <p:nvPr/>
        </p:nvSpPr>
        <p:spPr>
          <a:xfrm xmlns:a="http://schemas.openxmlformats.org/drawingml/2006/main">
            <a:off x="609600" y="3819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Preprocessing</a:t>
            </a:r>
          </a:p>
        </p:txBody>
      </p:sp>
      <p:sp>
        <p:nvSpPr>
          <p:cNvPr id="9" name="">
            <a:extLst xmlns:a="http://schemas.openxmlformats.org/drawingml/2006/main">
              <a:ext uri="{FF2B5EF4-FFF2-40B4-BE49-F238E27FC236}">
                <a16:creationId xmlns:a16="http://schemas.microsoft.com/office/drawing/2014/main" id="{2FAFDF34-150F-4A96-9BA4-6E97EFF82463}"/>
              </a:ext>
            </a:extLst>
          </p:cNvPr>
          <p:cNvSpPr>
            <a:spLocks xmlns:a="http://schemas.openxmlformats.org/drawingml/2006/main" noGrp="1"/>
          </p:cNvSpPr>
          <p:nvPr/>
        </p:nvSpPr>
        <p:spPr>
          <a:xfrm xmlns:a="http://schemas.openxmlformats.org/drawingml/2006/main">
            <a:off x="3981450" y="38195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Join wrapped PDF prose, recognize table aliases and normalize P-Port/R-Port while retaining evidence.</a:t>
            </a:r>
          </a:p>
        </p:txBody>
      </p:sp>
      <p:sp>
        <p:nvSpPr>
          <p:cNvPr id="10" name="">
            <a:extLst xmlns:a="http://schemas.openxmlformats.org/drawingml/2006/main">
              <a:ext uri="{FF2B5EF4-FFF2-40B4-BE49-F238E27FC236}">
                <a16:creationId xmlns:a16="http://schemas.microsoft.com/office/drawing/2014/main" id="{24EBC724-AC13-410B-A578-13BFF8421C1F}"/>
              </a:ext>
            </a:extLst>
          </p:cNvPr>
          <p:cNvSpPr>
            <a:spLocks xmlns:a="http://schemas.openxmlformats.org/drawingml/2006/main" noGrp="1"/>
          </p:cNvSpPr>
          <p:nvPr/>
        </p:nvSpPr>
        <p:spPr>
          <a:xfrm xmlns:a="http://schemas.openxmlformats.org/drawingml/2006/main">
            <a:off x="609600" y="48482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Leakage controls</a:t>
            </a:r>
          </a:p>
        </p:txBody>
      </p:sp>
      <p:sp>
        <p:nvSpPr>
          <p:cNvPr id="11" name="">
            <a:extLst xmlns:a="http://schemas.openxmlformats.org/drawingml/2006/main">
              <a:ext uri="{FF2B5EF4-FFF2-40B4-BE49-F238E27FC236}">
                <a16:creationId xmlns:a16="http://schemas.microsoft.com/office/drawing/2014/main" id="{0DE22B2D-72A2-4116-A746-C912F487C6E1}"/>
              </a:ext>
            </a:extLst>
          </p:cNvPr>
          <p:cNvSpPr>
            <a:spLocks xmlns:a="http://schemas.openxmlformats.org/drawingml/2006/main" noGrp="1"/>
          </p:cNvSpPr>
          <p:nvPr/>
        </p:nvSpPr>
        <p:spPr>
          <a:xfrm xmlns:a="http://schemas.openxmlformats.org/drawingml/2006/main">
            <a:off x="3981450" y="48482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Keep development fixtures separate. Future holdouts require a family-level split and independent annotations.</a:t>
            </a:r>
          </a:p>
        </p:txBody>
      </p:sp>
    </p:spTree>
    <p:extLst>
      <p:ext uri="{BB962C8B-B14F-4D97-AF65-F5344CB8AC3E}">
        <p14:creationId xmlns:p14="http://schemas.microsoft.com/office/powerpoint/2010/main" val="1909675472"/>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3AF4A87-BA9E-4F70-83FA-0355A6A2E604}"/>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653"/>
                </a:solidFill>
                <a:latin typeface="Arial"/>
                <a:ea typeface="Arial"/>
                <a:cs typeface="Arial"/>
              </a:defRPr>
            </a:defPPr>
          </a:lstStyle>
          <a:p xmlns:a="http://schemas.openxmlformats.org/drawingml/2006/main">
            <a:pPr>
              <a:defRPr sz="3300" b="1">
                <a:solidFill>
                  <a:srgbClr val="193653"/>
                </a:solidFill>
                <a:latin typeface="Arial"/>
                <a:ea typeface="Arial"/>
                <a:cs typeface="Arial"/>
              </a:defRPr>
            </a:pPr>
            <a:r>
              <a:rPr sz="3300" b="1">
                <a:solidFill>
                  <a:srgbClr val="193653"/>
                </a:solidFill>
                <a:latin typeface="Arial"/>
                <a:ea typeface="Arial"/>
                <a:cs typeface="Arial"/>
              </a:rPr>
              <a:t>Architecture and evidence workflow</a:t>
            </a:r>
          </a:p>
        </p:txBody>
      </p:sp>
      <p:sp>
        <p:nvSpPr>
          <p:cNvPr id="2" name="">
            <a:extLst xmlns:a="http://schemas.openxmlformats.org/drawingml/2006/main">
              <a:ext uri="{FF2B5EF4-FFF2-40B4-BE49-F238E27FC236}">
                <a16:creationId xmlns:a16="http://schemas.microsoft.com/office/drawing/2014/main" id="{D5AEAA7A-AAFD-4965-B511-F545EF033FE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HLD Navigator</a:t>
            </a:r>
          </a:p>
        </p:txBody>
      </p:sp>
      <p:sp>
        <p:nvSpPr>
          <p:cNvPr id="3" name="">
            <a:extLst xmlns:a="http://schemas.openxmlformats.org/drawingml/2006/main">
              <a:ext uri="{FF2B5EF4-FFF2-40B4-BE49-F238E27FC236}">
                <a16:creationId xmlns:a16="http://schemas.microsoft.com/office/drawing/2014/main" id="{4E86C508-FD14-4D68-83BA-99B312844978}"/>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E1B6EE37-A78B-48BB-83FA-21AED3DF5E93}"/>
              </a:ext>
            </a:extLst>
          </p:cNvPr>
          <p:cNvGraphicFramePr/>
          <p:nvPr/>
        </p:nvGraphicFramePr>
        <p:xfrm>
          <a:off xmlns:a="http://schemas.openxmlformats.org/drawingml/2006/main" x="609600" y="1600200"/>
          <a:ext xmlns:a="http://schemas.openxmlformats.org/drawingml/2006/main" cx="10972800" cy="4333875"/>
        </p:xfrm>
        <a:graphic xmlns:a="http://schemas.openxmlformats.org/drawingml/2006/main">
          <a:graphicData uri="http://schemas.openxmlformats.org/drawingml/2006/table">
            <a:tbl>
              <a:tblPr/>
              <a:tblGrid>
                <a:gridCol w="2000250"/>
                <a:gridCol w="4191000"/>
                <a:gridCol w="4781550"/>
              </a:tblGrid>
              <a:tr h="722313">
                <a:tc>
                  <a:txBody>
                    <a:bodyPr/>
                    <a:lstStyle/>
                    <a:p>
                      <a:r>
                        <a:rPr sz="1725" b="1">
                          <a:solidFill>
                            <a:srgbClr val="FFFFFF"/>
                          </a:solidFill>
                          <a:latin typeface="Arial"/>
                          <a:ea typeface="Arial"/>
                          <a:cs typeface="Arial"/>
                        </a:rPr>
                        <a:t>Stage</a:t>
                      </a:r>
                    </a:p>
                  </a:txBody>
                  <a:tcPr marL="91440" marR="91440" marT="45720" marB="45720">
                    <a:solidFill>
                      <a:srgbClr val="193653"/>
                    </a:solidFill>
                  </a:tcPr>
                </a:tc>
                <a:tc>
                  <a:txBody>
                    <a:bodyPr/>
                    <a:lstStyle/>
                    <a:p>
                      <a:r>
                        <a:rPr sz="1725" b="1">
                          <a:solidFill>
                            <a:srgbClr val="FFFFFF"/>
                          </a:solidFill>
                          <a:latin typeface="Arial"/>
                          <a:ea typeface="Arial"/>
                          <a:cs typeface="Arial"/>
                        </a:rPr>
                        <a:t>Implementation</a:t>
                      </a:r>
                    </a:p>
                  </a:txBody>
                  <a:tcPr marL="91440" marR="91440" marT="45720" marB="45720">
                    <a:solidFill>
                      <a:srgbClr val="193653"/>
                    </a:solidFill>
                  </a:tcPr>
                </a:tc>
                <a:tc>
                  <a:txBody>
                    <a:bodyPr/>
                    <a:lstStyle/>
                    <a:p>
                      <a:r>
                        <a:rPr sz="1725" b="1">
                          <a:solidFill>
                            <a:srgbClr val="FFFFFF"/>
                          </a:solidFill>
                          <a:latin typeface="Arial"/>
                          <a:ea typeface="Arial"/>
                          <a:cs typeface="Arial"/>
                        </a:rPr>
                        <a:t>Evidence / control</a:t>
                      </a:r>
                    </a:p>
                  </a:txBody>
                  <a:tcPr marL="91440" marR="91440" marT="45720" marB="45720">
                    <a:solidFill>
                      <a:srgbClr val="193653"/>
                    </a:solidFill>
                  </a:tcPr>
                </a:tc>
              </a:tr>
              <a:tr h="722313">
                <a:tc>
                  <a:txBody>
                    <a:bodyPr/>
                    <a:lstStyle/>
                    <a:p>
                      <a:r>
                        <a:rPr sz="1725" b="0">
                          <a:solidFill>
                            <a:srgbClr val="193653"/>
                          </a:solidFill>
                          <a:latin typeface="Arial"/>
                          <a:ea typeface="Arial"/>
                          <a:cs typeface="Arial"/>
                        </a:rPr>
                        <a:t>1  Ingest</a:t>
                      </a:r>
                    </a:p>
                  </a:txBody>
                  <a:tcPr marL="91440" marR="91440" marT="45720" marB="45720">
                    <a:solidFill>
                      <a:srgbClr val="FFFFFF"/>
                    </a:solidFill>
                  </a:tcPr>
                </a:tc>
                <a:tc>
                  <a:txBody>
                    <a:bodyPr/>
                    <a:lstStyle/>
                    <a:p>
                      <a:r>
                        <a:rPr sz="1725" b="0">
                          <a:solidFill>
                            <a:srgbClr val="193653"/>
                          </a:solidFill>
                          <a:latin typeface="Arial"/>
                          <a:ea typeface="Arial"/>
                          <a:cs typeface="Arial"/>
                        </a:rPr>
                        <a:t>Streamlit + FastAPI</a:t>
                      </a:r>
                    </a:p>
                  </a:txBody>
                  <a:tcPr marL="91440" marR="91440" marT="45720" marB="45720">
                    <a:solidFill>
                      <a:srgbClr val="FFFFFF"/>
                    </a:solidFill>
                  </a:tcPr>
                </a:tc>
                <a:tc>
                  <a:txBody>
                    <a:bodyPr/>
                    <a:lstStyle/>
                    <a:p>
                      <a:r>
                        <a:rPr sz="1725" b="0">
                          <a:solidFill>
                            <a:srgbClr val="193653"/>
                          </a:solidFill>
                          <a:latin typeface="Arial"/>
                          <a:ea typeface="Arial"/>
                          <a:cs typeface="Arial"/>
                        </a:rPr>
                        <a:t>Workspace, version, original bytes and hash</a:t>
                      </a:r>
                    </a:p>
                  </a:txBody>
                  <a:tcPr marL="91440" marR="91440" marT="45720" marB="45720">
                    <a:solidFill>
                      <a:srgbClr val="FFFFFF"/>
                    </a:solidFill>
                  </a:tcPr>
                </a:tc>
              </a:tr>
              <a:tr h="722313">
                <a:tc>
                  <a:txBody>
                    <a:bodyPr/>
                    <a:lstStyle/>
                    <a:p>
                      <a:r>
                        <a:rPr sz="1725" b="0">
                          <a:solidFill>
                            <a:srgbClr val="193653"/>
                          </a:solidFill>
                          <a:latin typeface="Arial"/>
                          <a:ea typeface="Arial"/>
                          <a:cs typeface="Arial"/>
                        </a:rPr>
                        <a:t>2  Extract</a:t>
                      </a:r>
                    </a:p>
                  </a:txBody>
                  <a:tcPr marL="91440" marR="91440" marT="45720" marB="45720">
                    <a:solidFill>
                      <a:srgbClr val="EDF2F7"/>
                    </a:solidFill>
                  </a:tcPr>
                </a:tc>
                <a:tc>
                  <a:txBody>
                    <a:bodyPr/>
                    <a:lstStyle/>
                    <a:p>
                      <a:r>
                        <a:rPr sz="1725" b="0">
                          <a:solidFill>
                            <a:srgbClr val="193653"/>
                          </a:solidFill>
                          <a:latin typeface="Arial"/>
                          <a:ea typeface="Arial"/>
                          <a:cs typeface="Arial"/>
                        </a:rPr>
                        <a:t>PDF/text/table parser + optional OCR</a:t>
                      </a:r>
                    </a:p>
                  </a:txBody>
                  <a:tcPr marL="91440" marR="91440" marT="45720" marB="45720">
                    <a:solidFill>
                      <a:srgbClr val="EDF2F7"/>
                    </a:solidFill>
                  </a:tcPr>
                </a:tc>
                <a:tc>
                  <a:txBody>
                    <a:bodyPr/>
                    <a:lstStyle/>
                    <a:p>
                      <a:r>
                        <a:rPr sz="1725" b="0">
                          <a:solidFill>
                            <a:srgbClr val="193653"/>
                          </a:solidFill>
                          <a:latin typeface="Arial"/>
                          <a:ea typeface="Arial"/>
                          <a:cs typeface="Arial"/>
                        </a:rPr>
                        <a:t>Entities, source locations and blocking warnings</a:t>
                      </a:r>
                    </a:p>
                  </a:txBody>
                  <a:tcPr marL="91440" marR="91440" marT="45720" marB="45720">
                    <a:solidFill>
                      <a:srgbClr val="EDF2F7"/>
                    </a:solidFill>
                  </a:tcPr>
                </a:tc>
              </a:tr>
              <a:tr h="722313">
                <a:tc>
                  <a:txBody>
                    <a:bodyPr/>
                    <a:lstStyle/>
                    <a:p>
                      <a:r>
                        <a:rPr sz="1725" b="0">
                          <a:solidFill>
                            <a:srgbClr val="193653"/>
                          </a:solidFill>
                          <a:latin typeface="Arial"/>
                          <a:ea typeface="Arial"/>
                          <a:cs typeface="Arial"/>
                        </a:rPr>
                        <a:t>3  Review</a:t>
                      </a:r>
                    </a:p>
                  </a:txBody>
                  <a:tcPr marL="91440" marR="91440" marT="45720" marB="45720">
                    <a:solidFill>
                      <a:srgbClr val="FFFFFF"/>
                    </a:solidFill>
                  </a:tcPr>
                </a:tc>
                <a:tc>
                  <a:txBody>
                    <a:bodyPr/>
                    <a:lstStyle/>
                    <a:p>
                      <a:r>
                        <a:rPr sz="1725" b="0">
                          <a:solidFill>
                            <a:srgbClr val="193653"/>
                          </a:solidFill>
                          <a:latin typeface="Arial"/>
                          <a:ea typeface="Arial"/>
                          <a:cs typeface="Arial"/>
                        </a:rPr>
                        <a:t>Source/entity decisions and corrections</a:t>
                      </a:r>
                    </a:p>
                  </a:txBody>
                  <a:tcPr marL="91440" marR="91440" marT="45720" marB="45720">
                    <a:solidFill>
                      <a:srgbClr val="FFFFFF"/>
                    </a:solidFill>
                  </a:tcPr>
                </a:tc>
                <a:tc>
                  <a:txBody>
                    <a:bodyPr/>
                    <a:lstStyle/>
                    <a:p>
                      <a:r>
                        <a:rPr sz="1725" b="0">
                          <a:solidFill>
                            <a:srgbClr val="193653"/>
                          </a:solidFill>
                          <a:latin typeface="Arial"/>
                          <a:ea typeface="Arial"/>
                          <a:cs typeface="Arial"/>
                        </a:rPr>
                        <a:t>Approved facts separate from disputed sources</a:t>
                      </a:r>
                    </a:p>
                  </a:txBody>
                  <a:tcPr marL="91440" marR="91440" marT="45720" marB="45720">
                    <a:solidFill>
                      <a:srgbClr val="FFFFFF"/>
                    </a:solidFill>
                  </a:tcPr>
                </a:tc>
              </a:tr>
              <a:tr h="722313">
                <a:tc>
                  <a:txBody>
                    <a:bodyPr/>
                    <a:lstStyle/>
                    <a:p>
                      <a:r>
                        <a:rPr sz="1725" b="0">
                          <a:solidFill>
                            <a:srgbClr val="193653"/>
                          </a:solidFill>
                          <a:latin typeface="Arial"/>
                          <a:ea typeface="Arial"/>
                          <a:cs typeface="Arial"/>
                        </a:rPr>
                        <a:t>4  Retrieve</a:t>
                      </a:r>
                    </a:p>
                  </a:txBody>
                  <a:tcPr marL="91440" marR="91440" marT="45720" marB="45720">
                    <a:solidFill>
                      <a:srgbClr val="EDF2F7"/>
                    </a:solidFill>
                  </a:tcPr>
                </a:tc>
                <a:tc>
                  <a:txBody>
                    <a:bodyPr/>
                    <a:lstStyle/>
                    <a:p>
                      <a:r>
                        <a:rPr sz="1725" b="0">
                          <a:solidFill>
                            <a:srgbClr val="193653"/>
                          </a:solidFill>
                          <a:latin typeface="Arial"/>
                          <a:ea typeface="Arial"/>
                          <a:cs typeface="Arial"/>
                        </a:rPr>
                        <a:t>SQLite FTS5 or local embeddings</a:t>
                      </a:r>
                    </a:p>
                  </a:txBody>
                  <a:tcPr marL="91440" marR="91440" marT="45720" marB="45720">
                    <a:solidFill>
                      <a:srgbClr val="EDF2F7"/>
                    </a:solidFill>
                  </a:tcPr>
                </a:tc>
                <a:tc>
                  <a:txBody>
                    <a:bodyPr/>
                    <a:lstStyle/>
                    <a:p>
                      <a:r>
                        <a:rPr sz="1725" b="0">
                          <a:solidFill>
                            <a:srgbClr val="193653"/>
                          </a:solidFill>
                          <a:latin typeface="Arial"/>
                          <a:ea typeface="Arial"/>
                          <a:cs typeface="Arial"/>
                        </a:rPr>
                        <a:t>Revision-selected blocks and model fingerprint</a:t>
                      </a:r>
                    </a:p>
                  </a:txBody>
                  <a:tcPr marL="91440" marR="91440" marT="45720" marB="45720">
                    <a:solidFill>
                      <a:srgbClr val="EDF2F7"/>
                    </a:solidFill>
                  </a:tcPr>
                </a:tc>
              </a:tr>
              <a:tr h="722313">
                <a:tc>
                  <a:txBody>
                    <a:bodyPr/>
                    <a:lstStyle/>
                    <a:p>
                      <a:r>
                        <a:rPr sz="1725" b="0">
                          <a:solidFill>
                            <a:srgbClr val="193653"/>
                          </a:solidFill>
                          <a:latin typeface="Arial"/>
                          <a:ea typeface="Arial"/>
                          <a:cs typeface="Arial"/>
                        </a:rPr>
                        <a:t>5  Respond / export</a:t>
                      </a:r>
                    </a:p>
                  </a:txBody>
                  <a:tcPr marL="91440" marR="91440" marT="45720" marB="45720">
                    <a:solidFill>
                      <a:srgbClr val="FFFFFF"/>
                    </a:solidFill>
                  </a:tcPr>
                </a:tc>
                <a:tc>
                  <a:txBody>
                    <a:bodyPr/>
                    <a:lstStyle/>
                    <a:p>
                      <a:r>
                        <a:rPr sz="1725" b="0">
                          <a:solidFill>
                            <a:srgbClr val="193653"/>
                          </a:solidFill>
                          <a:latin typeface="Arial"/>
                          <a:ea typeface="Arial"/>
                          <a:cs typeface="Arial"/>
                        </a:rPr>
                        <a:t>Citation guard + reviewed inventory</a:t>
                      </a:r>
                    </a:p>
                  </a:txBody>
                  <a:tcPr marL="91440" marR="91440" marT="45720" marB="45720">
                    <a:solidFill>
                      <a:srgbClr val="FFFFFF"/>
                    </a:solidFill>
                  </a:tcPr>
                </a:tc>
                <a:tc>
                  <a:txBody>
                    <a:bodyPr/>
                    <a:lstStyle/>
                    <a:p>
                      <a:r>
                        <a:rPr sz="1725" b="0">
                          <a:solidFill>
                            <a:srgbClr val="193653"/>
                          </a:solidFill>
                          <a:latin typeface="Arial"/>
                          <a:ea typeface="Arial"/>
                          <a:cs typeface="Arial"/>
                        </a:rPr>
                        <a:t>Abstention or reviewed structured output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82764498"/>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646C48D-B3E1-42FC-BA1A-86935F78416B}"/>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653"/>
                </a:solidFill>
                <a:latin typeface="Arial"/>
                <a:ea typeface="Arial"/>
                <a:cs typeface="Arial"/>
              </a:defRPr>
            </a:defPPr>
          </a:lstStyle>
          <a:p xmlns:a="http://schemas.openxmlformats.org/drawingml/2006/main">
            <a:pPr>
              <a:defRPr sz="3300" b="1">
                <a:solidFill>
                  <a:srgbClr val="193653"/>
                </a:solidFill>
                <a:latin typeface="Arial"/>
                <a:ea typeface="Arial"/>
                <a:cs typeface="Arial"/>
              </a:defRPr>
            </a:pPr>
            <a:r>
              <a:rPr sz="3300" b="1">
                <a:solidFill>
                  <a:srgbClr val="193653"/>
                </a:solidFill>
                <a:latin typeface="Arial"/>
                <a:ea typeface="Arial"/>
                <a:cs typeface="Arial"/>
              </a:rPr>
              <a:t>Representations and feature choices</a:t>
            </a:r>
          </a:p>
        </p:txBody>
      </p:sp>
      <p:sp>
        <p:nvSpPr>
          <p:cNvPr id="2" name="">
            <a:extLst xmlns:a="http://schemas.openxmlformats.org/drawingml/2006/main">
              <a:ext uri="{FF2B5EF4-FFF2-40B4-BE49-F238E27FC236}">
                <a16:creationId xmlns:a16="http://schemas.microsoft.com/office/drawing/2014/main" id="{3B2752D3-ED98-43C3-96AA-FEA479862C17}"/>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HLD Navigator</a:t>
            </a:r>
          </a:p>
        </p:txBody>
      </p:sp>
      <p:sp>
        <p:nvSpPr>
          <p:cNvPr id="3" name="">
            <a:extLst xmlns:a="http://schemas.openxmlformats.org/drawingml/2006/main">
              <a:ext uri="{FF2B5EF4-FFF2-40B4-BE49-F238E27FC236}">
                <a16:creationId xmlns:a16="http://schemas.microsoft.com/office/drawing/2014/main" id="{DBB964C4-9BAF-474F-8C69-E3053A8BA38B}"/>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87F45D68-C403-412A-9B8C-23A4A918F50D}"/>
              </a:ext>
            </a:extLst>
          </p:cNvPr>
          <p:cNvSpPr>
            <a:spLocks xmlns:a="http://schemas.openxmlformats.org/drawingml/2006/main" noGrp="1"/>
          </p:cNvSpPr>
          <p:nvPr/>
        </p:nvSpPr>
        <p:spPr>
          <a:xfrm xmlns:a="http://schemas.openxmlformats.org/drawingml/2006/main">
            <a:off x="609600" y="1762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Architecture schema</a:t>
            </a:r>
          </a:p>
        </p:txBody>
      </p:sp>
      <p:sp>
        <p:nvSpPr>
          <p:cNvPr id="5" name="">
            <a:extLst xmlns:a="http://schemas.openxmlformats.org/drawingml/2006/main">
              <a:ext uri="{FF2B5EF4-FFF2-40B4-BE49-F238E27FC236}">
                <a16:creationId xmlns:a16="http://schemas.microsoft.com/office/drawing/2014/main" id="{C442773B-DCFA-49F9-B01D-8CA5C099D863}"/>
              </a:ext>
            </a:extLst>
          </p:cNvPr>
          <p:cNvSpPr>
            <a:spLocks xmlns:a="http://schemas.openxmlformats.org/drawingml/2006/main" noGrp="1"/>
          </p:cNvSpPr>
          <p:nvPr/>
        </p:nvSpPr>
        <p:spPr>
          <a:xfrm xmlns:a="http://schemas.openxmlformats.org/drawingml/2006/main">
            <a:off x="3981450" y="17621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Entity type/name, component ownership, interface, direction, signal type/unit and declared source edges.</a:t>
            </a:r>
          </a:p>
        </p:txBody>
      </p:sp>
      <p:sp>
        <p:nvSpPr>
          <p:cNvPr id="6" name="">
            <a:extLst xmlns:a="http://schemas.openxmlformats.org/drawingml/2006/main">
              <a:ext uri="{FF2B5EF4-FFF2-40B4-BE49-F238E27FC236}">
                <a16:creationId xmlns:a16="http://schemas.microsoft.com/office/drawing/2014/main" id="{5AD6FE4E-1E45-41CB-BE54-7ADAC943D336}"/>
              </a:ext>
            </a:extLst>
          </p:cNvPr>
          <p:cNvSpPr>
            <a:spLocks xmlns:a="http://schemas.openxmlformats.org/drawingml/2006/main" noGrp="1"/>
          </p:cNvSpPr>
          <p:nvPr/>
        </p:nvSpPr>
        <p:spPr>
          <a:xfrm xmlns:a="http://schemas.openxmlformats.org/drawingml/2006/main">
            <a:off x="609600" y="27908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Source representation</a:t>
            </a:r>
          </a:p>
        </p:txBody>
      </p:sp>
      <p:sp>
        <p:nvSpPr>
          <p:cNvPr id="7" name="">
            <a:extLst xmlns:a="http://schemas.openxmlformats.org/drawingml/2006/main">
              <a:ext uri="{FF2B5EF4-FFF2-40B4-BE49-F238E27FC236}">
                <a16:creationId xmlns:a16="http://schemas.microsoft.com/office/drawing/2014/main" id="{42EDCBEA-01EF-417E-82B2-CBCE8DEA2C04}"/>
              </a:ext>
            </a:extLst>
          </p:cNvPr>
          <p:cNvSpPr>
            <a:spLocks xmlns:a="http://schemas.openxmlformats.org/drawingml/2006/main" noGrp="1"/>
          </p:cNvSpPr>
          <p:nvPr/>
        </p:nvSpPr>
        <p:spPr>
          <a:xfrm xmlns:a="http://schemas.openxmlformats.org/drawingml/2006/main">
            <a:off x="3981450" y="27908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Complete evidence blocks with section/line or page/table/row locations and review state.</a:t>
            </a:r>
          </a:p>
        </p:txBody>
      </p:sp>
      <p:sp>
        <p:nvSpPr>
          <p:cNvPr id="8" name="">
            <a:extLst xmlns:a="http://schemas.openxmlformats.org/drawingml/2006/main">
              <a:ext uri="{FF2B5EF4-FFF2-40B4-BE49-F238E27FC236}">
                <a16:creationId xmlns:a16="http://schemas.microsoft.com/office/drawing/2014/main" id="{F27E6831-9FDB-449A-AB19-F9D4EA541296}"/>
              </a:ext>
            </a:extLst>
          </p:cNvPr>
          <p:cNvSpPr>
            <a:spLocks xmlns:a="http://schemas.openxmlformats.org/drawingml/2006/main" noGrp="1"/>
          </p:cNvSpPr>
          <p:nvPr/>
        </p:nvSpPr>
        <p:spPr>
          <a:xfrm xmlns:a="http://schemas.openxmlformats.org/drawingml/2006/main">
            <a:off x="609600" y="3819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Search representation</a:t>
            </a:r>
          </a:p>
        </p:txBody>
      </p:sp>
      <p:sp>
        <p:nvSpPr>
          <p:cNvPr id="9" name="">
            <a:extLst xmlns:a="http://schemas.openxmlformats.org/drawingml/2006/main">
              <a:ext uri="{FF2B5EF4-FFF2-40B4-BE49-F238E27FC236}">
                <a16:creationId xmlns:a16="http://schemas.microsoft.com/office/drawing/2014/main" id="{ADC724AC-7BB5-4ACC-B9D6-EA74F7CA519A}"/>
              </a:ext>
            </a:extLst>
          </p:cNvPr>
          <p:cNvSpPr>
            <a:spLocks xmlns:a="http://schemas.openxmlformats.org/drawingml/2006/main" noGrp="1"/>
          </p:cNvSpPr>
          <p:nvPr/>
        </p:nvSpPr>
        <p:spPr>
          <a:xfrm xmlns:a="http://schemas.openxmlformats.org/drawingml/2006/main">
            <a:off x="3981450" y="38195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Lexical terms for the baseline. BGE dense vectors for optional semantic retrieval.</a:t>
            </a:r>
          </a:p>
        </p:txBody>
      </p:sp>
      <p:sp>
        <p:nvSpPr>
          <p:cNvPr id="10" name="">
            <a:extLst xmlns:a="http://schemas.openxmlformats.org/drawingml/2006/main">
              <a:ext uri="{FF2B5EF4-FFF2-40B4-BE49-F238E27FC236}">
                <a16:creationId xmlns:a16="http://schemas.microsoft.com/office/drawing/2014/main" id="{3CD73489-D7F4-430A-8391-BE7F61796F71}"/>
              </a:ext>
            </a:extLst>
          </p:cNvPr>
          <p:cNvSpPr>
            <a:spLocks xmlns:a="http://schemas.openxmlformats.org/drawingml/2006/main" noGrp="1"/>
          </p:cNvSpPr>
          <p:nvPr/>
        </p:nvSpPr>
        <p:spPr>
          <a:xfrm xmlns:a="http://schemas.openxmlformats.org/drawingml/2006/main">
            <a:off x="609600" y="48482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Design rationale</a:t>
            </a:r>
          </a:p>
        </p:txBody>
      </p:sp>
      <p:sp>
        <p:nvSpPr>
          <p:cNvPr id="11" name="">
            <a:extLst xmlns:a="http://schemas.openxmlformats.org/drawingml/2006/main">
              <a:ext uri="{FF2B5EF4-FFF2-40B4-BE49-F238E27FC236}">
                <a16:creationId xmlns:a16="http://schemas.microsoft.com/office/drawing/2014/main" id="{87FA8529-4632-49DC-B10E-88AD3E265F57}"/>
              </a:ext>
            </a:extLst>
          </p:cNvPr>
          <p:cNvSpPr>
            <a:spLocks xmlns:a="http://schemas.openxmlformats.org/drawingml/2006/main" noGrp="1"/>
          </p:cNvSpPr>
          <p:nvPr/>
        </p:nvSpPr>
        <p:spPr>
          <a:xfrm xmlns:a="http://schemas.openxmlformats.org/drawingml/2006/main">
            <a:off x="3981450" y="48482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Preserve exact names, scientific units, negation and qualifiers. No PCA or fine-tuning in this pilot.</a:t>
            </a:r>
          </a:p>
        </p:txBody>
      </p:sp>
    </p:spTree>
    <p:extLst>
      <p:ext uri="{BB962C8B-B14F-4D97-AF65-F5344CB8AC3E}">
        <p14:creationId xmlns:p14="http://schemas.microsoft.com/office/powerpoint/2010/main" val="1558572521"/>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C9B3C3-2BC2-4242-AFD2-82198DFAEB97}"/>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653"/>
                </a:solidFill>
                <a:latin typeface="Arial"/>
                <a:ea typeface="Arial"/>
                <a:cs typeface="Arial"/>
              </a:defRPr>
            </a:defPPr>
          </a:lstStyle>
          <a:p xmlns:a="http://schemas.openxmlformats.org/drawingml/2006/main">
            <a:pPr>
              <a:defRPr sz="3300" b="1">
                <a:solidFill>
                  <a:srgbClr val="193653"/>
                </a:solidFill>
                <a:latin typeface="Arial"/>
                <a:ea typeface="Arial"/>
                <a:cs typeface="Arial"/>
              </a:defRPr>
            </a:pPr>
            <a:r>
              <a:rPr sz="3300" b="1">
                <a:solidFill>
                  <a:srgbClr val="193653"/>
                </a:solidFill>
                <a:latin typeface="Arial"/>
                <a:ea typeface="Arial"/>
                <a:cs typeface="Arial"/>
              </a:rPr>
              <a:t>Worked example and expected outputs</a:t>
            </a:r>
          </a:p>
        </p:txBody>
      </p:sp>
      <p:sp>
        <p:nvSpPr>
          <p:cNvPr id="2" name="">
            <a:extLst xmlns:a="http://schemas.openxmlformats.org/drawingml/2006/main">
              <a:ext uri="{FF2B5EF4-FFF2-40B4-BE49-F238E27FC236}">
                <a16:creationId xmlns:a16="http://schemas.microsoft.com/office/drawing/2014/main" id="{E7E7DB2E-9CC1-492F-B707-51410557CD8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HLD Navigator</a:t>
            </a:r>
          </a:p>
        </p:txBody>
      </p:sp>
      <p:sp>
        <p:nvSpPr>
          <p:cNvPr id="3" name="">
            <a:extLst xmlns:a="http://schemas.openxmlformats.org/drawingml/2006/main">
              <a:ext uri="{FF2B5EF4-FFF2-40B4-BE49-F238E27FC236}">
                <a16:creationId xmlns:a16="http://schemas.microsoft.com/office/drawing/2014/main" id="{825F9BB9-2E6F-47B3-8C7C-C1AFEBDF1E51}"/>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D7DD47E6-12D2-49AE-AF79-CFAE79075052}"/>
              </a:ext>
            </a:extLst>
          </p:cNvPr>
          <p:cNvSpPr>
            <a:spLocks xmlns:a="http://schemas.openxmlformats.org/drawingml/2006/main" noGrp="1"/>
          </p:cNvSpPr>
          <p:nvPr/>
        </p:nvSpPr>
        <p:spPr>
          <a:xfrm xmlns:a="http://schemas.openxmlformats.org/drawingml/2006/main">
            <a:off x="609600" y="1581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76CAE"/>
                </a:solidFill>
                <a:latin typeface="Arial"/>
                <a:ea typeface="Arial"/>
                <a:cs typeface="Arial"/>
              </a:defRPr>
            </a:defPPr>
          </a:lstStyle>
          <a:p xmlns:a="http://schemas.openxmlformats.org/drawingml/2006/main">
            <a:pPr>
              <a:defRPr sz="2025" b="0">
                <a:solidFill>
                  <a:srgbClr val="276CAE"/>
                </a:solidFill>
                <a:latin typeface="Arial"/>
                <a:ea typeface="Arial"/>
                <a:cs typeface="Arial"/>
              </a:defRPr>
            </a:pPr>
            <a:r>
              <a:rPr sz="2025" b="0">
                <a:solidFill>
                  <a:srgbClr val="276CAE"/>
                </a:solidFill>
                <a:latin typeface="Arial"/>
                <a:ea typeface="Arial"/>
                <a:cs typeface="Arial"/>
              </a:rPr>
              <a:t>Synthetic source: “The Torque signal has type uint16 and unit Nm.”</a:t>
            </a:r>
          </a:p>
        </p:txBody>
      </p:sp>
      <p:graphicFrame>
        <p:nvGraphicFramePr>
          <p:cNvPr id="5" name="">
            <a:extLst xmlns:a="http://schemas.openxmlformats.org/drawingml/2006/main">
              <a:ext uri="{FF2B5EF4-FFF2-40B4-BE49-F238E27FC236}">
                <a16:creationId xmlns:a16="http://schemas.microsoft.com/office/drawing/2014/main" id="{3C54CEED-5F57-496F-810B-4BB8A554E2CB}"/>
              </a:ext>
            </a:extLst>
          </p:cNvPr>
          <p:cNvGraphicFramePr/>
          <p:nvPr/>
        </p:nvGraphicFramePr>
        <p:xfrm>
          <a:off xmlns:a="http://schemas.openxmlformats.org/drawingml/2006/main" x="609600" y="2324100"/>
          <a:ext xmlns:a="http://schemas.openxmlformats.org/drawingml/2006/main" cx="10972800" cy="3390900"/>
        </p:xfrm>
        <a:graphic xmlns:a="http://schemas.openxmlformats.org/drawingml/2006/main">
          <a:graphicData uri="http://schemas.openxmlformats.org/drawingml/2006/table">
            <a:tbl>
              <a:tblPr/>
              <a:tblGrid>
                <a:gridCol w="3524250"/>
                <a:gridCol w="7448550"/>
              </a:tblGrid>
              <a:tr h="565150">
                <a:tc>
                  <a:txBody>
                    <a:bodyPr/>
                    <a:lstStyle/>
                    <a:p>
                      <a:r>
                        <a:rPr sz="1725" b="1">
                          <a:solidFill>
                            <a:srgbClr val="FFFFFF"/>
                          </a:solidFill>
                          <a:latin typeface="Arial"/>
                          <a:ea typeface="Arial"/>
                          <a:cs typeface="Arial"/>
                        </a:rPr>
                        <a:t>Output</a:t>
                      </a:r>
                    </a:p>
                  </a:txBody>
                  <a:tcPr marL="91440" marR="91440" marT="45720" marB="45720">
                    <a:solidFill>
                      <a:srgbClr val="193653"/>
                    </a:solidFill>
                  </a:tcPr>
                </a:tc>
                <a:tc>
                  <a:txBody>
                    <a:bodyPr/>
                    <a:lstStyle/>
                    <a:p>
                      <a:r>
                        <a:rPr sz="1725" b="1">
                          <a:solidFill>
                            <a:srgbClr val="FFFFFF"/>
                          </a:solidFill>
                          <a:latin typeface="Arial"/>
                          <a:ea typeface="Arial"/>
                          <a:cs typeface="Arial"/>
                        </a:rPr>
                        <a:t>Evidence-backed example</a:t>
                      </a:r>
                    </a:p>
                  </a:txBody>
                  <a:tcPr marL="91440" marR="91440" marT="45720" marB="45720">
                    <a:solidFill>
                      <a:srgbClr val="193653"/>
                    </a:solidFill>
                  </a:tcPr>
                </a:tc>
              </a:tr>
              <a:tr h="565150">
                <a:tc>
                  <a:txBody>
                    <a:bodyPr/>
                    <a:lstStyle/>
                    <a:p>
                      <a:r>
                        <a:rPr sz="1725" b="0">
                          <a:solidFill>
                            <a:srgbClr val="193653"/>
                          </a:solidFill>
                          <a:latin typeface="Arial"/>
                          <a:ea typeface="Arial"/>
                          <a:cs typeface="Arial"/>
                        </a:rPr>
                        <a:t>Component/interface inventory</a:t>
                      </a:r>
                    </a:p>
                  </a:txBody>
                  <a:tcPr marL="91440" marR="91440" marT="45720" marB="45720">
                    <a:solidFill>
                      <a:srgbClr val="FFFFFF"/>
                    </a:solidFill>
                  </a:tcPr>
                </a:tc>
                <a:tc>
                  <a:txBody>
                    <a:bodyPr/>
                    <a:lstStyle/>
                    <a:p>
                      <a:r>
                        <a:rPr sz="1725" b="0">
                          <a:solidFill>
                            <a:srgbClr val="193653"/>
                          </a:solidFill>
                          <a:latin typeface="Arial"/>
                          <a:ea typeface="Arial"/>
                          <a:cs typeface="Arial"/>
                        </a:rPr>
                        <a:t>EngineControl, InstrumentCluster and TorqueInterface</a:t>
                      </a:r>
                    </a:p>
                  </a:txBody>
                  <a:tcPr marL="91440" marR="91440" marT="45720" marB="45720">
                    <a:solidFill>
                      <a:srgbClr val="FFFFFF"/>
                    </a:solidFill>
                  </a:tcPr>
                </a:tc>
              </a:tr>
              <a:tr h="565150">
                <a:tc>
                  <a:txBody>
                    <a:bodyPr/>
                    <a:lstStyle/>
                    <a:p>
                      <a:r>
                        <a:rPr sz="1725" b="0">
                          <a:solidFill>
                            <a:srgbClr val="193653"/>
                          </a:solidFill>
                          <a:latin typeface="Arial"/>
                          <a:ea typeface="Arial"/>
                          <a:cs typeface="Arial"/>
                        </a:rPr>
                        <a:t>Port and signal records</a:t>
                      </a:r>
                    </a:p>
                  </a:txBody>
                  <a:tcPr marL="91440" marR="91440" marT="45720" marB="45720">
                    <a:solidFill>
                      <a:srgbClr val="EDF2F7"/>
                    </a:solidFill>
                  </a:tcPr>
                </a:tc>
                <a:tc>
                  <a:txBody>
                    <a:bodyPr/>
                    <a:lstStyle/>
                    <a:p>
                      <a:r>
                        <a:rPr sz="1725" b="0">
                          <a:solidFill>
                            <a:srgbClr val="193653"/>
                          </a:solidFill>
                          <a:latin typeface="Arial"/>
                          <a:ea typeface="Arial"/>
                          <a:cs typeface="Arial"/>
                        </a:rPr>
                        <a:t>TorqueOut provides, TorqueIn requires. Torque: uint16, Nm.</a:t>
                      </a:r>
                    </a:p>
                  </a:txBody>
                  <a:tcPr marL="91440" marR="91440" marT="45720" marB="45720">
                    <a:solidFill>
                      <a:srgbClr val="EDF2F7"/>
                    </a:solidFill>
                  </a:tcPr>
                </a:tc>
              </a:tr>
              <a:tr h="565150">
                <a:tc>
                  <a:txBody>
                    <a:bodyPr/>
                    <a:lstStyle/>
                    <a:p>
                      <a:r>
                        <a:rPr sz="1725" b="0">
                          <a:solidFill>
                            <a:srgbClr val="193653"/>
                          </a:solidFill>
                          <a:latin typeface="Arial"/>
                          <a:ea typeface="Arial"/>
                          <a:cs typeface="Arial"/>
                        </a:rPr>
                        <a:t>Dependency / functional flow</a:t>
                      </a:r>
                    </a:p>
                  </a:txBody>
                  <a:tcPr marL="91440" marR="91440" marT="45720" marB="45720">
                    <a:solidFill>
                      <a:srgbClr val="FFFFFF"/>
                    </a:solidFill>
                  </a:tcPr>
                </a:tc>
                <a:tc>
                  <a:txBody>
                    <a:bodyPr/>
                    <a:lstStyle/>
                    <a:p>
                      <a:r>
                        <a:rPr sz="1725" b="0">
                          <a:solidFill>
                            <a:srgbClr val="193653"/>
                          </a:solidFill>
                          <a:latin typeface="Arial"/>
                          <a:ea typeface="Arial"/>
                          <a:cs typeface="Arial"/>
                        </a:rPr>
                        <a:t>EngineControl to InstrumentCluster. TorqueDelivery flow.</a:t>
                      </a:r>
                    </a:p>
                  </a:txBody>
                  <a:tcPr marL="91440" marR="91440" marT="45720" marB="45720">
                    <a:solidFill>
                      <a:srgbClr val="FFFFFF"/>
                    </a:solidFill>
                  </a:tcPr>
                </a:tc>
              </a:tr>
              <a:tr h="565150">
                <a:tc>
                  <a:txBody>
                    <a:bodyPr/>
                    <a:lstStyle/>
                    <a:p>
                      <a:r>
                        <a:rPr sz="1725" b="0">
                          <a:solidFill>
                            <a:srgbClr val="193653"/>
                          </a:solidFill>
                          <a:latin typeface="Arial"/>
                          <a:ea typeface="Arial"/>
                          <a:cs typeface="Arial"/>
                        </a:rPr>
                        <a:t>Cited search response</a:t>
                      </a:r>
                    </a:p>
                  </a:txBody>
                  <a:tcPr marL="91440" marR="91440" marT="45720" marB="45720">
                    <a:solidFill>
                      <a:srgbClr val="EDF2F7"/>
                    </a:solidFill>
                  </a:tcPr>
                </a:tc>
                <a:tc>
                  <a:txBody>
                    <a:bodyPr/>
                    <a:lstStyle/>
                    <a:p>
                      <a:r>
                        <a:rPr sz="1725" b="0">
                          <a:solidFill>
                            <a:srgbClr val="193653"/>
                          </a:solidFill>
                          <a:latin typeface="Arial"/>
                          <a:ea typeface="Arial"/>
                          <a:cs typeface="Arial"/>
                        </a:rPr>
                        <a:t>Full source block with revision and section/line reference</a:t>
                      </a:r>
                    </a:p>
                  </a:txBody>
                  <a:tcPr marL="91440" marR="91440" marT="45720" marB="45720">
                    <a:solidFill>
                      <a:srgbClr val="EDF2F7"/>
                    </a:solidFill>
                  </a:tcPr>
                </a:tc>
              </a:tr>
              <a:tr h="565150">
                <a:tc>
                  <a:txBody>
                    <a:bodyPr/>
                    <a:lstStyle/>
                    <a:p>
                      <a:r>
                        <a:rPr sz="1725" b="0">
                          <a:solidFill>
                            <a:srgbClr val="193653"/>
                          </a:solidFill>
                          <a:latin typeface="Arial"/>
                          <a:ea typeface="Arial"/>
                          <a:cs typeface="Arial"/>
                        </a:rPr>
                        <a:t>Revision findings</a:t>
                      </a:r>
                    </a:p>
                  </a:txBody>
                  <a:tcPr marL="91440" marR="91440" marT="45720" marB="45720">
                    <a:solidFill>
                      <a:srgbClr val="FFFFFF"/>
                    </a:solidFill>
                  </a:tcPr>
                </a:tc>
                <a:tc>
                  <a:txBody>
                    <a:bodyPr/>
                    <a:lstStyle/>
                    <a:p>
                      <a:r>
                        <a:rPr sz="1725" b="0">
                          <a:solidFill>
                            <a:srgbClr val="193653"/>
                          </a:solidFill>
                          <a:latin typeface="Arial"/>
                          <a:ea typeface="Arial"/>
                          <a:cs typeface="Arial"/>
                        </a:rPr>
                        <a:t>A changed port direction can trigger a provider/consumer mismatch.</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54C73B9-F02E-4DF4-A605-7D126308E9C1}"/>
              </a:ext>
            </a:extLst>
          </p:cNvPr>
          <p:cNvSpPr>
            <a:spLocks xmlns:a="http://schemas.openxmlformats.org/drawingml/2006/main" noGrp="1"/>
          </p:cNvSpPr>
          <p:nvPr/>
        </p:nvSpPr>
        <p:spPr>
          <a:xfrm xmlns:a="http://schemas.openxmlformats.org/drawingml/2006/main">
            <a:off x="609600" y="59626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76CAE"/>
                </a:solidFill>
                <a:latin typeface="Arial"/>
                <a:ea typeface="Arial"/>
                <a:cs typeface="Arial"/>
              </a:defRPr>
            </a:defPPr>
          </a:lstStyle>
          <a:p xmlns:a="http://schemas.openxmlformats.org/drawingml/2006/main">
            <a:pPr>
              <a:defRPr sz="1800" b="1">
                <a:solidFill>
                  <a:srgbClr val="276CAE"/>
                </a:solidFill>
                <a:latin typeface="Arial"/>
                <a:ea typeface="Arial"/>
                <a:cs typeface="Arial"/>
              </a:defRPr>
            </a:pPr>
            <a:r>
              <a:rPr sz="1800" b="1">
                <a:solidFill>
                  <a:srgbClr val="276CAE"/>
                </a:solidFill>
                <a:latin typeface="Arial"/>
                <a:ea typeface="Arial"/>
                <a:cs typeface="Arial"/>
              </a:rPr>
              <a:t>Reviewer checks proposals and resolves blockers before export.</a:t>
            </a:r>
          </a:p>
        </p:txBody>
      </p:sp>
    </p:spTree>
    <p:extLst>
      <p:ext uri="{BB962C8B-B14F-4D97-AF65-F5344CB8AC3E}">
        <p14:creationId xmlns:p14="http://schemas.microsoft.com/office/powerpoint/2010/main" val="214507792"/>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07ABD2-693F-4B16-BB10-1D4A63D93A06}"/>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653"/>
                </a:solidFill>
                <a:latin typeface="Arial"/>
                <a:ea typeface="Arial"/>
                <a:cs typeface="Arial"/>
              </a:defRPr>
            </a:defPPr>
          </a:lstStyle>
          <a:p xmlns:a="http://schemas.openxmlformats.org/drawingml/2006/main">
            <a:pPr>
              <a:defRPr sz="3300" b="1">
                <a:solidFill>
                  <a:srgbClr val="193653"/>
                </a:solidFill>
                <a:latin typeface="Arial"/>
                <a:ea typeface="Arial"/>
                <a:cs typeface="Arial"/>
              </a:defRPr>
            </a:pPr>
            <a:r>
              <a:rPr sz="3300" b="1">
                <a:solidFill>
                  <a:srgbClr val="193653"/>
                </a:solidFill>
                <a:latin typeface="Arial"/>
                <a:ea typeface="Arial"/>
                <a:cs typeface="Arial"/>
              </a:rPr>
              <a:t>Evaluation results and error analysis</a:t>
            </a:r>
          </a:p>
        </p:txBody>
      </p:sp>
      <p:sp>
        <p:nvSpPr>
          <p:cNvPr id="2" name="">
            <a:extLst xmlns:a="http://schemas.openxmlformats.org/drawingml/2006/main">
              <a:ext uri="{FF2B5EF4-FFF2-40B4-BE49-F238E27FC236}">
                <a16:creationId xmlns:a16="http://schemas.microsoft.com/office/drawing/2014/main" id="{5FB0D0B1-E184-4A0A-8975-F174CB39C5C7}"/>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HLD Navigator</a:t>
            </a:r>
          </a:p>
        </p:txBody>
      </p:sp>
      <p:sp>
        <p:nvSpPr>
          <p:cNvPr id="3" name="">
            <a:extLst xmlns:a="http://schemas.openxmlformats.org/drawingml/2006/main">
              <a:ext uri="{FF2B5EF4-FFF2-40B4-BE49-F238E27FC236}">
                <a16:creationId xmlns:a16="http://schemas.microsoft.com/office/drawing/2014/main" id="{A19E19B7-E8A7-4D2B-A845-6C4E1E33B095}"/>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09</a:t>
            </a:r>
          </a:p>
        </p:txBody>
      </p:sp>
      <p:graphicFrame>
        <p:nvGraphicFramePr>
          <p:cNvPr id="4" name="">
            <a:extLst xmlns:a="http://schemas.openxmlformats.org/drawingml/2006/main">
              <a:ext uri="{FF2B5EF4-FFF2-40B4-BE49-F238E27FC236}">
                <a16:creationId xmlns:a16="http://schemas.microsoft.com/office/drawing/2014/main" id="{88C32EA4-720E-47F8-B6F6-E07530DE203A}"/>
              </a:ext>
            </a:extLst>
          </p:cNvPr>
          <p:cNvGraphicFramePr/>
          <p:nvPr/>
        </p:nvGraphicFramePr>
        <p:xfrm>
          <a:off xmlns:a="http://schemas.openxmlformats.org/drawingml/2006/main" x="609600" y="1638300"/>
          <a:ext xmlns:a="http://schemas.openxmlformats.org/drawingml/2006/main" cx="10972800" cy="4000500"/>
        </p:xfrm>
        <a:graphic xmlns:a="http://schemas.openxmlformats.org/drawingml/2006/main">
          <a:graphicData uri="http://schemas.openxmlformats.org/drawingml/2006/table">
            <a:tbl>
              <a:tblPr/>
              <a:tblGrid>
                <a:gridCol w="3429000"/>
                <a:gridCol w="2952750"/>
                <a:gridCol w="4591050"/>
              </a:tblGrid>
              <a:tr h="666750">
                <a:tc>
                  <a:txBody>
                    <a:bodyPr/>
                    <a:lstStyle/>
                    <a:p>
                      <a:r>
                        <a:rPr sz="1725" b="1">
                          <a:solidFill>
                            <a:srgbClr val="FFFFFF"/>
                          </a:solidFill>
                          <a:latin typeface="Arial"/>
                          <a:ea typeface="Arial"/>
                          <a:cs typeface="Arial"/>
                        </a:rPr>
                        <a:t>Recorded evidence</a:t>
                      </a:r>
                    </a:p>
                  </a:txBody>
                  <a:tcPr marL="91440" marR="91440" marT="45720" marB="45720">
                    <a:solidFill>
                      <a:srgbClr val="193653"/>
                    </a:solidFill>
                  </a:tcPr>
                </a:tc>
                <a:tc>
                  <a:txBody>
                    <a:bodyPr/>
                    <a:lstStyle/>
                    <a:p>
                      <a:r>
                        <a:rPr sz="1725" b="1">
                          <a:solidFill>
                            <a:srgbClr val="FFFFFF"/>
                          </a:solidFill>
                          <a:latin typeface="Arial"/>
                          <a:ea typeface="Arial"/>
                          <a:cs typeface="Arial"/>
                        </a:rPr>
                        <a:t>Outcome</a:t>
                      </a:r>
                    </a:p>
                  </a:txBody>
                  <a:tcPr marL="91440" marR="91440" marT="45720" marB="45720">
                    <a:solidFill>
                      <a:srgbClr val="193653"/>
                    </a:solidFill>
                  </a:tcPr>
                </a:tc>
                <a:tc>
                  <a:txBody>
                    <a:bodyPr/>
                    <a:lstStyle/>
                    <a:p>
                      <a:r>
                        <a:rPr sz="1725" b="1">
                          <a:solidFill>
                            <a:srgbClr val="FFFFFF"/>
                          </a:solidFill>
                          <a:latin typeface="Arial"/>
                          <a:ea typeface="Arial"/>
                          <a:cs typeface="Arial"/>
                        </a:rPr>
                        <a:t>Meaning / limit</a:t>
                      </a:r>
                    </a:p>
                  </a:txBody>
                  <a:tcPr marL="91440" marR="91440" marT="45720" marB="45720">
                    <a:solidFill>
                      <a:srgbClr val="193653"/>
                    </a:solidFill>
                  </a:tcPr>
                </a:tc>
              </a:tr>
              <a:tr h="666750">
                <a:tc>
                  <a:txBody>
                    <a:bodyPr/>
                    <a:lstStyle/>
                    <a:p>
                      <a:r>
                        <a:rPr sz="1725" b="0">
                          <a:solidFill>
                            <a:srgbClr val="193653"/>
                          </a:solidFill>
                          <a:latin typeface="Arial"/>
                          <a:ea typeface="Arial"/>
                          <a:cs typeface="Arial"/>
                        </a:rPr>
                        <a:t>Current local suite</a:t>
                      </a:r>
                    </a:p>
                  </a:txBody>
                  <a:tcPr marL="91440" marR="91440" marT="45720" marB="45720">
                    <a:solidFill>
                      <a:srgbClr val="FFFFFF"/>
                    </a:solidFill>
                  </a:tcPr>
                </a:tc>
                <a:tc>
                  <a:txBody>
                    <a:bodyPr/>
                    <a:lstStyle/>
                    <a:p>
                      <a:r>
                        <a:rPr sz="1725" b="0">
                          <a:solidFill>
                            <a:srgbClr val="193653"/>
                          </a:solidFill>
                          <a:latin typeface="Arial"/>
                          <a:ea typeface="Arial"/>
                          <a:cs typeface="Arial"/>
                        </a:rPr>
                        <a:t>499 tests passed</a:t>
                      </a:r>
                    </a:p>
                  </a:txBody>
                  <a:tcPr marL="91440" marR="91440" marT="45720" marB="45720">
                    <a:solidFill>
                      <a:srgbClr val="FFFFFF"/>
                    </a:solidFill>
                  </a:tcPr>
                </a:tc>
                <a:tc>
                  <a:txBody>
                    <a:bodyPr/>
                    <a:lstStyle/>
                    <a:p>
                      <a:r>
                        <a:rPr sz="1725" b="0">
                          <a:solidFill>
                            <a:srgbClr val="193653"/>
                          </a:solidFill>
                          <a:latin typeface="Arial"/>
                          <a:ea typeface="Arial"/>
                          <a:cs typeface="Arial"/>
                        </a:rPr>
                        <a:t>Windows / Python 3.14.8</a:t>
                      </a:r>
                    </a:p>
                  </a:txBody>
                  <a:tcPr marL="91440" marR="91440" marT="45720" marB="45720">
                    <a:solidFill>
                      <a:srgbClr val="FFFFFF"/>
                    </a:solidFill>
                  </a:tcPr>
                </a:tc>
              </a:tr>
              <a:tr h="666750">
                <a:tc>
                  <a:txBody>
                    <a:bodyPr/>
                    <a:lstStyle/>
                    <a:p>
                      <a:r>
                        <a:rPr sz="1725" b="0">
                          <a:solidFill>
                            <a:srgbClr val="193653"/>
                          </a:solidFill>
                          <a:latin typeface="Arial"/>
                          <a:ea typeface="Arial"/>
                          <a:cs typeface="Arial"/>
                        </a:rPr>
                        <a:t>Live HTTP and UI</a:t>
                      </a:r>
                    </a:p>
                  </a:txBody>
                  <a:tcPr marL="91440" marR="91440" marT="45720" marB="45720">
                    <a:solidFill>
                      <a:srgbClr val="EDF2F7"/>
                    </a:solidFill>
                  </a:tcPr>
                </a:tc>
                <a:tc>
                  <a:txBody>
                    <a:bodyPr/>
                    <a:lstStyle/>
                    <a:p>
                      <a:r>
                        <a:rPr sz="1725" b="0">
                          <a:solidFill>
                            <a:srgbClr val="193653"/>
                          </a:solidFill>
                          <a:latin typeface="Arial"/>
                          <a:ea typeface="Arial"/>
                          <a:cs typeface="Arial"/>
                        </a:rPr>
                        <a:t>Passed integration checks</a:t>
                      </a:r>
                    </a:p>
                  </a:txBody>
                  <a:tcPr marL="91440" marR="91440" marT="45720" marB="45720">
                    <a:solidFill>
                      <a:srgbClr val="EDF2F7"/>
                    </a:solidFill>
                  </a:tcPr>
                </a:tc>
                <a:tc>
                  <a:txBody>
                    <a:bodyPr/>
                    <a:lstStyle/>
                    <a:p>
                      <a:r>
                        <a:rPr sz="1725" b="0">
                          <a:solidFill>
                            <a:srgbClr val="193653"/>
                          </a:solidFill>
                          <a:latin typeface="Arial"/>
                          <a:ea typeface="Arial"/>
                          <a:cs typeface="Arial"/>
                        </a:rPr>
                        <a:t>Synthetic fixtures; governed export</a:t>
                      </a:r>
                    </a:p>
                  </a:txBody>
                  <a:tcPr marL="91440" marR="91440" marT="45720" marB="45720">
                    <a:solidFill>
                      <a:srgbClr val="EDF2F7"/>
                    </a:solidFill>
                  </a:tcPr>
                </a:tc>
              </a:tr>
              <a:tr h="666750">
                <a:tc>
                  <a:txBody>
                    <a:bodyPr/>
                    <a:lstStyle/>
                    <a:p>
                      <a:r>
                        <a:rPr sz="1725" b="0">
                          <a:solidFill>
                            <a:srgbClr val="193653"/>
                          </a:solidFill>
                          <a:latin typeface="Arial"/>
                          <a:ea typeface="Arial"/>
                          <a:cs typeface="Arial"/>
                        </a:rPr>
                        <a:t>Real Tesseract OCR</a:t>
                      </a:r>
                    </a:p>
                  </a:txBody>
                  <a:tcPr marL="91440" marR="91440" marT="45720" marB="45720">
                    <a:solidFill>
                      <a:srgbClr val="FFFFFF"/>
                    </a:solidFill>
                  </a:tcPr>
                </a:tc>
                <a:tc>
                  <a:txBody>
                    <a:bodyPr/>
                    <a:lstStyle/>
                    <a:p>
                      <a:r>
                        <a:rPr sz="1725" b="0">
                          <a:solidFill>
                            <a:srgbClr val="193653"/>
                          </a:solidFill>
                          <a:latin typeface="Arial"/>
                          <a:ea typeface="Arial"/>
                          <a:cs typeface="Arial"/>
                        </a:rPr>
                        <a:t>7 pages, 312 source blocks</a:t>
                      </a:r>
                    </a:p>
                  </a:txBody>
                  <a:tcPr marL="91440" marR="91440" marT="45720" marB="45720">
                    <a:solidFill>
                      <a:srgbClr val="FFFFFF"/>
                    </a:solidFill>
                  </a:tcPr>
                </a:tc>
                <a:tc>
                  <a:txBody>
                    <a:bodyPr/>
                    <a:lstStyle/>
                    <a:p>
                      <a:r>
                        <a:rPr sz="1725" b="0">
                          <a:solidFill>
                            <a:srgbClr val="193653"/>
                          </a:solidFill>
                          <a:latin typeface="Arial"/>
                          <a:ea typeface="Arial"/>
                          <a:cs typeface="Arial"/>
                        </a:rPr>
                        <a:t>Instruction scan; mandatory review</a:t>
                      </a:r>
                    </a:p>
                  </a:txBody>
                  <a:tcPr marL="91440" marR="91440" marT="45720" marB="45720">
                    <a:solidFill>
                      <a:srgbClr val="FFFFFF"/>
                    </a:solidFill>
                  </a:tcPr>
                </a:tc>
              </a:tr>
              <a:tr h="666750">
                <a:tc>
                  <a:txBody>
                    <a:bodyPr/>
                    <a:lstStyle/>
                    <a:p>
                      <a:r>
                        <a:rPr sz="1725" b="0">
                          <a:solidFill>
                            <a:srgbClr val="193653"/>
                          </a:solidFill>
                          <a:latin typeface="Arial"/>
                          <a:ea typeface="Arial"/>
                          <a:cs typeface="Arial"/>
                        </a:rPr>
                        <a:t>Public extraction baseline</a:t>
                      </a:r>
                    </a:p>
                  </a:txBody>
                  <a:tcPr marL="91440" marR="91440" marT="45720" marB="45720">
                    <a:solidFill>
                      <a:srgbClr val="EDF2F7"/>
                    </a:solidFill>
                  </a:tcPr>
                </a:tc>
                <a:tc>
                  <a:txBody>
                    <a:bodyPr/>
                    <a:lstStyle/>
                    <a:p>
                      <a:r>
                        <a:rPr sz="1725" b="0">
                          <a:solidFill>
                            <a:srgbClr val="193653"/>
                          </a:solidFill>
                          <a:latin typeface="Arial"/>
                          <a:ea typeface="Arial"/>
                          <a:cs typeface="Arial"/>
                        </a:rPr>
                        <a:t>18 missed, 1 unexpected fact</a:t>
                      </a:r>
                    </a:p>
                  </a:txBody>
                  <a:tcPr marL="91440" marR="91440" marT="45720" marB="45720">
                    <a:solidFill>
                      <a:srgbClr val="EDF2F7"/>
                    </a:solidFill>
                  </a:tcPr>
                </a:tc>
                <a:tc>
                  <a:txBody>
                    <a:bodyPr/>
                    <a:lstStyle/>
                    <a:p>
                      <a:r>
                        <a:rPr sz="1725" b="0">
                          <a:solidFill>
                            <a:srgbClr val="193653"/>
                          </a:solidFill>
                          <a:latin typeface="Arial"/>
                          <a:ea typeface="Arial"/>
                          <a:cs typeface="Arial"/>
                        </a:rPr>
                        <a:t>Three documents, provisional labels</a:t>
                      </a:r>
                    </a:p>
                  </a:txBody>
                  <a:tcPr marL="91440" marR="91440" marT="45720" marB="45720">
                    <a:solidFill>
                      <a:srgbClr val="EDF2F7"/>
                    </a:solidFill>
                  </a:tcPr>
                </a:tc>
              </a:tr>
              <a:tr h="666750">
                <a:tc>
                  <a:txBody>
                    <a:bodyPr/>
                    <a:lstStyle/>
                    <a:p>
                      <a:r>
                        <a:rPr sz="1725" b="0">
                          <a:solidFill>
                            <a:srgbClr val="193653"/>
                          </a:solidFill>
                          <a:latin typeface="Arial"/>
                          <a:ea typeface="Arial"/>
                          <a:cs typeface="Arial"/>
                        </a:rPr>
                        <a:t>Public warning baseline</a:t>
                      </a:r>
                    </a:p>
                  </a:txBody>
                  <a:tcPr marL="91440" marR="91440" marT="45720" marB="45720">
                    <a:solidFill>
                      <a:srgbClr val="FFFFFF"/>
                    </a:solidFill>
                  </a:tcPr>
                </a:tc>
                <a:tc>
                  <a:txBody>
                    <a:bodyPr/>
                    <a:lstStyle/>
                    <a:p>
                      <a:r>
                        <a:rPr sz="1725" b="0">
                          <a:solidFill>
                            <a:srgbClr val="193653"/>
                          </a:solidFill>
                          <a:latin typeface="Arial"/>
                          <a:ea typeface="Arial"/>
                          <a:cs typeface="Arial"/>
                        </a:rPr>
                        <a:t>20 matches, 12 unexpected, 19 missed</a:t>
                      </a:r>
                    </a:p>
                  </a:txBody>
                  <a:tcPr marL="91440" marR="91440" marT="45720" marB="45720">
                    <a:solidFill>
                      <a:srgbClr val="FFFFFF"/>
                    </a:solidFill>
                  </a:tcPr>
                </a:tc>
                <a:tc>
                  <a:txBody>
                    <a:bodyPr/>
                    <a:lstStyle/>
                    <a:p>
                      <a:r>
                        <a:rPr sz="1725" b="0">
                          <a:solidFill>
                            <a:srgbClr val="193653"/>
                          </a:solidFill>
                          <a:latin typeface="Arial"/>
                          <a:ea typeface="Arial"/>
                          <a:cs typeface="Arial"/>
                        </a:rPr>
                        <a:t>Location/code counts, not reason correctness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C1DE986-10FB-414E-9063-05DC4C32E247}"/>
              </a:ext>
            </a:extLst>
          </p:cNvPr>
          <p:cNvSpPr>
            <a:spLocks xmlns:a="http://schemas.openxmlformats.org/drawingml/2006/main" noGrp="1"/>
          </p:cNvSpPr>
          <p:nvPr/>
        </p:nvSpPr>
        <p:spPr>
          <a:xfrm xmlns:a="http://schemas.openxmlformats.org/drawingml/2006/main">
            <a:off x="609600" y="58959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76CAE"/>
                </a:solidFill>
                <a:latin typeface="Arial"/>
                <a:ea typeface="Arial"/>
                <a:cs typeface="Arial"/>
              </a:defRPr>
            </a:defPPr>
          </a:lstStyle>
          <a:p xmlns:a="http://schemas.openxmlformats.org/drawingml/2006/main">
            <a:pPr>
              <a:defRPr sz="1725" b="1">
                <a:solidFill>
                  <a:srgbClr val="276CAE"/>
                </a:solidFill>
                <a:latin typeface="Arial"/>
                <a:ea typeface="Arial"/>
                <a:cs typeface="Arial"/>
              </a:defRPr>
            </a:pPr>
            <a:r>
              <a:rPr sz="1725" b="1">
                <a:solidFill>
                  <a:srgbClr val="276CAE"/>
                </a:solidFill>
                <a:latin typeface="Arial"/>
                <a:ea typeface="Arial"/>
                <a:cs typeface="Arial"/>
              </a:rPr>
              <a:t>OEM holdout accuracy, independent review and correction time remain unmeasured.</a:t>
            </a:r>
          </a:p>
        </p:txBody>
      </p:sp>
    </p:spTree>
    <p:extLst>
      <p:ext uri="{BB962C8B-B14F-4D97-AF65-F5344CB8AC3E}">
        <p14:creationId xmlns:p14="http://schemas.microsoft.com/office/powerpoint/2010/main" val="1978931530"/>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06C246-B75C-40E1-BB14-990085EDA32C}"/>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653"/>
                </a:solidFill>
                <a:latin typeface="Arial"/>
                <a:ea typeface="Arial"/>
                <a:cs typeface="Arial"/>
              </a:defRPr>
            </a:defPPr>
          </a:lstStyle>
          <a:p xmlns:a="http://schemas.openxmlformats.org/drawingml/2006/main">
            <a:pPr>
              <a:defRPr sz="3300" b="1">
                <a:solidFill>
                  <a:srgbClr val="193653"/>
                </a:solidFill>
                <a:latin typeface="Arial"/>
                <a:ea typeface="Arial"/>
                <a:cs typeface="Arial"/>
              </a:defRPr>
            </a:pPr>
            <a:r>
              <a:rPr sz="3300" b="1">
                <a:solidFill>
                  <a:srgbClr val="193653"/>
                </a:solidFill>
                <a:latin typeface="Arial"/>
                <a:ea typeface="Arial"/>
                <a:cs typeface="Arial"/>
              </a:rPr>
              <a:t>Measured retrieval and answer-model limits</a:t>
            </a:r>
          </a:p>
        </p:txBody>
      </p:sp>
      <p:sp>
        <p:nvSpPr>
          <p:cNvPr id="2" name="">
            <a:extLst xmlns:a="http://schemas.openxmlformats.org/drawingml/2006/main">
              <a:ext uri="{FF2B5EF4-FFF2-40B4-BE49-F238E27FC236}">
                <a16:creationId xmlns:a16="http://schemas.microsoft.com/office/drawing/2014/main" id="{E88EC71D-24E2-4D95-B877-81E9656CA62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HLD Navigator</a:t>
            </a:r>
          </a:p>
        </p:txBody>
      </p:sp>
      <p:sp>
        <p:nvSpPr>
          <p:cNvPr id="3" name="">
            <a:extLst xmlns:a="http://schemas.openxmlformats.org/drawingml/2006/main">
              <a:ext uri="{FF2B5EF4-FFF2-40B4-BE49-F238E27FC236}">
                <a16:creationId xmlns:a16="http://schemas.microsoft.com/office/drawing/2014/main" id="{C840C3FD-DE38-47DF-9518-FAFD7A9BCD73}"/>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10</a:t>
            </a:r>
          </a:p>
        </p:txBody>
      </p:sp>
      <p:graphicFrame>
        <p:nvGraphicFramePr>
          <p:cNvPr id="4" name="Chart">
            <a:extLst xmlns:a="http://schemas.openxmlformats.org/drawingml/2006/main">
              <a:ext uri="{FF2B5EF4-FFF2-40B4-BE49-F238E27FC236}">
                <a16:creationId xmlns:a16="http://schemas.microsoft.com/office/drawing/2014/main" id="{8A303663-0A42-417B-9CCD-920C174F2997}"/>
              </a:ext>
            </a:extLst>
          </p:cNvPr>
          <p:cNvGraphicFramePr/>
          <p:nvPr/>
        </p:nvGraphicFramePr>
        <p:xfrm>
          <a:off xmlns:a="http://schemas.openxmlformats.org/drawingml/2006/main" x="609600" y="1809750"/>
          <a:ext xmlns:a="http://schemas.openxmlformats.org/drawingml/2006/main" cx="6000750" cy="3619500"/>
        </p:xfrm>
        <a:graphic xmlns:a="http://schemas.openxmlformats.org/drawingml/2006/main">
          <a:graphicData uri="http://schemas.openxmlformats.org/drawingml/2006/chart">
            <c:chart xmlns:r="http://schemas.openxmlformats.org/officeDocument/2006/relationships" xmlns:c="http://schemas.openxmlformats.org/drawingml/2006/chart" r:id="Rf45e07e06e28411f"/>
          </a:graphicData>
        </a:graphic>
      </p:graphicFrame>
      <p:sp>
        <p:nvSpPr>
          <p:cNvPr id="5" name="">
            <a:extLst xmlns:a="http://schemas.openxmlformats.org/drawingml/2006/main">
              <a:ext uri="{FF2B5EF4-FFF2-40B4-BE49-F238E27FC236}">
                <a16:creationId xmlns:a16="http://schemas.microsoft.com/office/drawing/2014/main" id="{7B5806CD-855B-4127-8B80-79E1CDDC992C}"/>
              </a:ext>
            </a:extLst>
          </p:cNvPr>
          <p:cNvSpPr>
            <a:spLocks xmlns:a="http://schemas.openxmlformats.org/drawingml/2006/main" noGrp="1"/>
          </p:cNvSpPr>
          <p:nvPr/>
        </p:nvSpPr>
        <p:spPr>
          <a:xfrm xmlns:a="http://schemas.openxmlformats.org/drawingml/2006/main">
            <a:off x="609600" y="5629275"/>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16274"/>
                </a:solidFill>
                <a:latin typeface="Arial"/>
                <a:ea typeface="Arial"/>
                <a:cs typeface="Arial"/>
              </a:defRPr>
            </a:defPPr>
          </a:lstStyle>
          <a:p xmlns:a="http://schemas.openxmlformats.org/drawingml/2006/main">
            <a:pPr>
              <a:defRPr sz="1725" b="0">
                <a:solidFill>
                  <a:srgbClr val="516274"/>
                </a:solidFill>
                <a:latin typeface="Arial"/>
                <a:ea typeface="Arial"/>
                <a:cs typeface="Arial"/>
              </a:defRPr>
            </a:pPr>
            <a:r>
              <a:rPr sz="1725" b="0">
                <a:solidFill>
                  <a:srgbClr val="516274"/>
                </a:solidFill>
                <a:latin typeface="Arial"/>
                <a:ea typeface="Arial"/>
                <a:cs typeface="Arial"/>
              </a:rPr>
              <a:t>4 selected public-document queries</a:t>
            </a:r>
          </a:p>
        </p:txBody>
      </p:sp>
      <p:sp>
        <p:nvSpPr>
          <p:cNvPr id="6" name="">
            <a:extLst xmlns:a="http://schemas.openxmlformats.org/drawingml/2006/main">
              <a:ext uri="{FF2B5EF4-FFF2-40B4-BE49-F238E27FC236}">
                <a16:creationId xmlns:a16="http://schemas.microsoft.com/office/drawing/2014/main" id="{DD0820C6-A3B9-4434-A73E-643D732C4A78}"/>
              </a:ext>
            </a:extLst>
          </p:cNvPr>
          <p:cNvSpPr>
            <a:spLocks xmlns:a="http://schemas.openxmlformats.org/drawingml/2006/main" noGrp="1"/>
          </p:cNvSpPr>
          <p:nvPr/>
        </p:nvSpPr>
        <p:spPr>
          <a:xfrm xmlns:a="http://schemas.openxmlformats.org/drawingml/2006/main">
            <a:off x="7048500" y="1781175"/>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76CAE"/>
                </a:solidFill>
                <a:latin typeface="Arial"/>
                <a:ea typeface="Arial"/>
                <a:cs typeface="Arial"/>
              </a:defRPr>
            </a:defPPr>
          </a:lstStyle>
          <a:p xmlns:a="http://schemas.openxmlformats.org/drawingml/2006/main">
            <a:pPr>
              <a:defRPr sz="2175" b="1">
                <a:solidFill>
                  <a:srgbClr val="276CAE"/>
                </a:solidFill>
                <a:latin typeface="Arial"/>
                <a:ea typeface="Arial"/>
                <a:cs typeface="Arial"/>
              </a:defRPr>
            </a:pPr>
            <a:r>
              <a:rPr sz="2175" b="1">
                <a:solidFill>
                  <a:srgbClr val="276CAE"/>
                </a:solidFill>
                <a:latin typeface="Arial"/>
                <a:ea typeface="Arial"/>
                <a:cs typeface="Arial"/>
              </a:rPr>
              <a:t>Qwen2.5-7B CPU run</a:t>
            </a:r>
          </a:p>
        </p:txBody>
      </p:sp>
      <p:sp>
        <p:nvSpPr>
          <p:cNvPr id="7" name="">
            <a:extLst xmlns:a="http://schemas.openxmlformats.org/drawingml/2006/main">
              <a:ext uri="{FF2B5EF4-FFF2-40B4-BE49-F238E27FC236}">
                <a16:creationId xmlns:a16="http://schemas.microsoft.com/office/drawing/2014/main" id="{69499434-642E-46DA-8387-18E8FE6BD388}"/>
              </a:ext>
            </a:extLst>
          </p:cNvPr>
          <p:cNvSpPr>
            <a:spLocks xmlns:a="http://schemas.openxmlformats.org/drawingml/2006/main" noGrp="1"/>
          </p:cNvSpPr>
          <p:nvPr/>
        </p:nvSpPr>
        <p:spPr>
          <a:xfrm xmlns:a="http://schemas.openxmlformats.org/drawingml/2006/main">
            <a:off x="7048500" y="2590800"/>
            <a:ext cx="4476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29 / 30 raw contract passes</a:t>
            </a:r>
          </a:p>
          <a:p xmlns:a="http://schemas.openxmlformats.org/drawingml/2006/main">
            <a:r>
              <a:t/>
            </a:r>
          </a:p>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8 / 8 raw abstentions</a:t>
            </a:r>
          </a:p>
          <a:p xmlns:a="http://schemas.openxmlformats.org/drawingml/2006/main">
            <a:r>
              <a:t/>
            </a:r>
          </a:p>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8 / 12 useful complete answers</a:t>
            </a:r>
          </a:p>
          <a:p xmlns:a="http://schemas.openxmlformats.org/drawingml/2006/main">
            <a:r>
              <a:t/>
            </a:r>
          </a:p>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0 / 5 injection instructions followed</a:t>
            </a:r>
          </a:p>
          <a:p xmlns:a="http://schemas.openxmlformats.org/drawingml/2006/main">
            <a:r>
              <a:t/>
            </a:r>
          </a:p>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Developer review; OEM qualification pending.</a:t>
            </a:r>
          </a:p>
        </p:txBody>
      </p:sp>
    </p:spTree>
    <p:extLst>
      <p:ext uri="{BB962C8B-B14F-4D97-AF65-F5344CB8AC3E}">
        <p14:creationId xmlns:p14="http://schemas.microsoft.com/office/powerpoint/2010/main" val="1998778907"/>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BCFCD47-BCEB-4934-8418-F875D1582DDB}"/>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653"/>
                </a:solidFill>
                <a:latin typeface="Arial"/>
                <a:ea typeface="Arial"/>
                <a:cs typeface="Arial"/>
              </a:defRPr>
            </a:defPPr>
          </a:lstStyle>
          <a:p xmlns:a="http://schemas.openxmlformats.org/drawingml/2006/main">
            <a:pPr>
              <a:defRPr sz="3300" b="1">
                <a:solidFill>
                  <a:srgbClr val="193653"/>
                </a:solidFill>
                <a:latin typeface="Arial"/>
                <a:ea typeface="Arial"/>
                <a:cs typeface="Arial"/>
              </a:defRPr>
            </a:pPr>
            <a:r>
              <a:rPr sz="3300" b="1">
                <a:solidFill>
                  <a:srgbClr val="193653"/>
                </a:solidFill>
                <a:latin typeface="Arial"/>
                <a:ea typeface="Arial"/>
                <a:cs typeface="Arial"/>
              </a:rPr>
              <a:t>Responsible AI and deployment controls</a:t>
            </a:r>
          </a:p>
        </p:txBody>
      </p:sp>
      <p:sp>
        <p:nvSpPr>
          <p:cNvPr id="2" name="">
            <a:extLst xmlns:a="http://schemas.openxmlformats.org/drawingml/2006/main">
              <a:ext uri="{FF2B5EF4-FFF2-40B4-BE49-F238E27FC236}">
                <a16:creationId xmlns:a16="http://schemas.microsoft.com/office/drawing/2014/main" id="{B807653C-5180-46FC-BCC4-4BE7C38A27B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HLD Navigator</a:t>
            </a:r>
          </a:p>
        </p:txBody>
      </p:sp>
      <p:sp>
        <p:nvSpPr>
          <p:cNvPr id="3" name="">
            <a:extLst xmlns:a="http://schemas.openxmlformats.org/drawingml/2006/main">
              <a:ext uri="{FF2B5EF4-FFF2-40B4-BE49-F238E27FC236}">
                <a16:creationId xmlns:a16="http://schemas.microsoft.com/office/drawing/2014/main" id="{EFC608FE-A4EB-416D-82C5-58EE2B10ABD6}"/>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12B183A9-320B-43F5-B855-C3A2424E77AC}"/>
              </a:ext>
            </a:extLst>
          </p:cNvPr>
          <p:cNvSpPr>
            <a:spLocks xmlns:a="http://schemas.openxmlformats.org/drawingml/2006/main" noGrp="1"/>
          </p:cNvSpPr>
          <p:nvPr/>
        </p:nvSpPr>
        <p:spPr>
          <a:xfrm xmlns:a="http://schemas.openxmlformats.org/drawingml/2006/main">
            <a:off x="609600" y="1762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Grounding and oversight</a:t>
            </a:r>
          </a:p>
        </p:txBody>
      </p:sp>
      <p:sp>
        <p:nvSpPr>
          <p:cNvPr id="5" name="">
            <a:extLst xmlns:a="http://schemas.openxmlformats.org/drawingml/2006/main">
              <a:ext uri="{FF2B5EF4-FFF2-40B4-BE49-F238E27FC236}">
                <a16:creationId xmlns:a16="http://schemas.microsoft.com/office/drawing/2014/main" id="{D7815D55-5666-4B6C-9296-2F53740EE0DB}"/>
              </a:ext>
            </a:extLst>
          </p:cNvPr>
          <p:cNvSpPr>
            <a:spLocks xmlns:a="http://schemas.openxmlformats.org/drawingml/2006/main" noGrp="1"/>
          </p:cNvSpPr>
          <p:nvPr/>
        </p:nvSpPr>
        <p:spPr>
          <a:xfrm xmlns:a="http://schemas.openxmlformats.org/drawingml/2006/main">
            <a:off x="3981450" y="17621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Literal snippet citations, explicit abstention, source/fact review and export blockers.</a:t>
            </a:r>
          </a:p>
        </p:txBody>
      </p:sp>
      <p:sp>
        <p:nvSpPr>
          <p:cNvPr id="6" name="">
            <a:extLst xmlns:a="http://schemas.openxmlformats.org/drawingml/2006/main">
              <a:ext uri="{FF2B5EF4-FFF2-40B4-BE49-F238E27FC236}">
                <a16:creationId xmlns:a16="http://schemas.microsoft.com/office/drawing/2014/main" id="{07EDA525-B576-49E3-8572-B5640DEE186C}"/>
              </a:ext>
            </a:extLst>
          </p:cNvPr>
          <p:cNvSpPr>
            <a:spLocks xmlns:a="http://schemas.openxmlformats.org/drawingml/2006/main" noGrp="1"/>
          </p:cNvSpPr>
          <p:nvPr/>
        </p:nvSpPr>
        <p:spPr>
          <a:xfrm xmlns:a="http://schemas.openxmlformats.org/drawingml/2006/main">
            <a:off x="609600" y="27908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Privacy and access</a:t>
            </a:r>
          </a:p>
        </p:txBody>
      </p:sp>
      <p:sp>
        <p:nvSpPr>
          <p:cNvPr id="7" name="">
            <a:extLst xmlns:a="http://schemas.openxmlformats.org/drawingml/2006/main">
              <a:ext uri="{FF2B5EF4-FFF2-40B4-BE49-F238E27FC236}">
                <a16:creationId xmlns:a16="http://schemas.microsoft.com/office/drawing/2014/main" id="{99DC2D6E-C509-478E-A1E3-A5003EF4FC7E}"/>
              </a:ext>
            </a:extLst>
          </p:cNvPr>
          <p:cNvSpPr>
            <a:spLocks xmlns:a="http://schemas.openxmlformats.org/drawingml/2006/main" noGrp="1"/>
          </p:cNvSpPr>
          <p:nvPr/>
        </p:nvSpPr>
        <p:spPr>
          <a:xfrm xmlns:a="http://schemas.openxmlformats.org/drawingml/2006/main">
            <a:off x="3981450" y="27908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Approved or synthetic inputs, workspace isolation and viewer/editor/reviewer permissions.</a:t>
            </a:r>
          </a:p>
        </p:txBody>
      </p:sp>
      <p:sp>
        <p:nvSpPr>
          <p:cNvPr id="8" name="">
            <a:extLst xmlns:a="http://schemas.openxmlformats.org/drawingml/2006/main">
              <a:ext uri="{FF2B5EF4-FFF2-40B4-BE49-F238E27FC236}">
                <a16:creationId xmlns:a16="http://schemas.microsoft.com/office/drawing/2014/main" id="{0108DA29-007C-48E1-AD4B-891FE2D0668B}"/>
              </a:ext>
            </a:extLst>
          </p:cNvPr>
          <p:cNvSpPr>
            <a:spLocks xmlns:a="http://schemas.openxmlformats.org/drawingml/2006/main" noGrp="1"/>
          </p:cNvSpPr>
          <p:nvPr/>
        </p:nvSpPr>
        <p:spPr>
          <a:xfrm xmlns:a="http://schemas.openxmlformats.org/drawingml/2006/main">
            <a:off x="609600" y="3819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Model risks</a:t>
            </a:r>
          </a:p>
        </p:txBody>
      </p:sp>
      <p:sp>
        <p:nvSpPr>
          <p:cNvPr id="9" name="">
            <a:extLst xmlns:a="http://schemas.openxmlformats.org/drawingml/2006/main">
              <a:ext uri="{FF2B5EF4-FFF2-40B4-BE49-F238E27FC236}">
                <a16:creationId xmlns:a16="http://schemas.microsoft.com/office/drawing/2014/main" id="{37C2575E-2FA0-4CEC-BF3E-281EABB2FF24}"/>
              </a:ext>
            </a:extLst>
          </p:cNvPr>
          <p:cNvSpPr>
            <a:spLocks xmlns:a="http://schemas.openxmlformats.org/drawingml/2006/main" noGrp="1"/>
          </p:cNvSpPr>
          <p:nvPr/>
        </p:nvSpPr>
        <p:spPr>
          <a:xfrm xmlns:a="http://schemas.openxmlformats.org/drawingml/2006/main">
            <a:off x="3981450" y="38195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Irrelevant evidence, contradictions and injection contamination require semantic review.</a:t>
            </a:r>
          </a:p>
        </p:txBody>
      </p:sp>
      <p:sp>
        <p:nvSpPr>
          <p:cNvPr id="10" name="">
            <a:extLst xmlns:a="http://schemas.openxmlformats.org/drawingml/2006/main">
              <a:ext uri="{FF2B5EF4-FFF2-40B4-BE49-F238E27FC236}">
                <a16:creationId xmlns:a16="http://schemas.microsoft.com/office/drawing/2014/main" id="{A7FE17AF-8FAF-4B58-ABFB-56F972F70AAA}"/>
              </a:ext>
            </a:extLst>
          </p:cNvPr>
          <p:cNvSpPr>
            <a:spLocks xmlns:a="http://schemas.openxmlformats.org/drawingml/2006/main" noGrp="1"/>
          </p:cNvSpPr>
          <p:nvPr/>
        </p:nvSpPr>
        <p:spPr>
          <a:xfrm xmlns:a="http://schemas.openxmlformats.org/drawingml/2006/main">
            <a:off x="609600" y="48482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Deployment boundaries</a:t>
            </a:r>
          </a:p>
        </p:txBody>
      </p:sp>
      <p:sp>
        <p:nvSpPr>
          <p:cNvPr id="11" name="">
            <a:extLst xmlns:a="http://schemas.openxmlformats.org/drawingml/2006/main">
              <a:ext uri="{FF2B5EF4-FFF2-40B4-BE49-F238E27FC236}">
                <a16:creationId xmlns:a16="http://schemas.microsoft.com/office/drawing/2014/main" id="{81AC1308-56AC-4333-838E-8BD494562D39}"/>
              </a:ext>
            </a:extLst>
          </p:cNvPr>
          <p:cNvSpPr>
            <a:spLocks xmlns:a="http://schemas.openxmlformats.org/drawingml/2006/main" noGrp="1"/>
          </p:cNvSpPr>
          <p:nvPr/>
        </p:nvSpPr>
        <p:spPr>
          <a:xfrm xmlns:a="http://schemas.openxmlformats.org/drawingml/2006/main">
            <a:off x="3981450" y="48482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Local operation only. Recovery and revocation tested. Enterprise IAM, TLS, load qualification and hardened audit pending.</a:t>
            </a:r>
          </a:p>
        </p:txBody>
      </p:sp>
    </p:spTree>
    <p:extLst>
      <p:ext uri="{BB962C8B-B14F-4D97-AF65-F5344CB8AC3E}">
        <p14:creationId xmlns:p14="http://schemas.microsoft.com/office/powerpoint/2010/main" val="636245838"/>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AF2A899-A5F6-4A3E-8551-11734BC6E808}"/>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653"/>
                </a:solidFill>
                <a:latin typeface="Arial"/>
                <a:ea typeface="Arial"/>
                <a:cs typeface="Arial"/>
              </a:defRPr>
            </a:defPPr>
          </a:lstStyle>
          <a:p xmlns:a="http://schemas.openxmlformats.org/drawingml/2006/main">
            <a:pPr>
              <a:defRPr sz="3300" b="1">
                <a:solidFill>
                  <a:srgbClr val="193653"/>
                </a:solidFill>
                <a:latin typeface="Arial"/>
                <a:ea typeface="Arial"/>
                <a:cs typeface="Arial"/>
              </a:defRPr>
            </a:pPr>
            <a:r>
              <a:rPr sz="3300" b="1">
                <a:solidFill>
                  <a:srgbClr val="193653"/>
                </a:solidFill>
                <a:latin typeface="Arial"/>
                <a:ea typeface="Arial"/>
                <a:cs typeface="Arial"/>
              </a:rPr>
              <a:t>Conclusion and acceptance priorities</a:t>
            </a:r>
          </a:p>
        </p:txBody>
      </p:sp>
      <p:sp>
        <p:nvSpPr>
          <p:cNvPr id="2" name="">
            <a:extLst xmlns:a="http://schemas.openxmlformats.org/drawingml/2006/main">
              <a:ext uri="{FF2B5EF4-FFF2-40B4-BE49-F238E27FC236}">
                <a16:creationId xmlns:a16="http://schemas.microsoft.com/office/drawing/2014/main" id="{132E391C-FD9C-45F0-B8C4-BFA3DCB51FA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HLD Navigator</a:t>
            </a:r>
          </a:p>
        </p:txBody>
      </p:sp>
      <p:sp>
        <p:nvSpPr>
          <p:cNvPr id="3" name="">
            <a:extLst xmlns:a="http://schemas.openxmlformats.org/drawingml/2006/main">
              <a:ext uri="{FF2B5EF4-FFF2-40B4-BE49-F238E27FC236}">
                <a16:creationId xmlns:a16="http://schemas.microsoft.com/office/drawing/2014/main" id="{27F856FA-3CF5-4A34-93E1-7A7D46315273}"/>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3BA79B08-F74D-4251-A94C-C55E468A80B3}"/>
              </a:ext>
            </a:extLst>
          </p:cNvPr>
          <p:cNvSpPr>
            <a:spLocks xmlns:a="http://schemas.openxmlformats.org/drawingml/2006/main" noGrp="1"/>
          </p:cNvSpPr>
          <p:nvPr/>
        </p:nvSpPr>
        <p:spPr>
          <a:xfrm xmlns:a="http://schemas.openxmlformats.org/drawingml/2006/main">
            <a:off x="609600" y="17430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276CAE"/>
                </a:solidFill>
                <a:latin typeface="Arial"/>
                <a:ea typeface="Arial"/>
                <a:cs typeface="Arial"/>
              </a:defRPr>
            </a:defPPr>
          </a:lstStyle>
          <a:p xmlns:a="http://schemas.openxmlformats.org/drawingml/2006/main">
            <a:pPr>
              <a:defRPr sz="2925" b="1">
                <a:solidFill>
                  <a:srgbClr val="276CAE"/>
                </a:solidFill>
                <a:latin typeface="Arial"/>
                <a:ea typeface="Arial"/>
                <a:cs typeface="Arial"/>
              </a:defRPr>
            </a:pPr>
            <a:r>
              <a:rPr sz="2925" b="1">
                <a:solidFill>
                  <a:srgbClr val="276CAE"/>
                </a:solidFill>
                <a:latin typeface="Arial"/>
                <a:ea typeface="Arial"/>
                <a:cs typeface="Arial"/>
              </a:rPr>
              <a:t>The pilot makes supported architecture facts traceable and reviewable.</a:t>
            </a:r>
          </a:p>
        </p:txBody>
      </p:sp>
      <p:sp>
        <p:nvSpPr>
          <p:cNvPr id="5" name="">
            <a:extLst xmlns:a="http://schemas.openxmlformats.org/drawingml/2006/main">
              <a:ext uri="{FF2B5EF4-FFF2-40B4-BE49-F238E27FC236}">
                <a16:creationId xmlns:a16="http://schemas.microsoft.com/office/drawing/2014/main" id="{B31482C0-FBC8-4CBF-8387-CC8476E221AD}"/>
              </a:ext>
            </a:extLst>
          </p:cNvPr>
          <p:cNvSpPr>
            <a:spLocks xmlns:a="http://schemas.openxmlformats.org/drawingml/2006/main" noGrp="1"/>
          </p:cNvSpPr>
          <p:nvPr/>
        </p:nvSpPr>
        <p:spPr>
          <a:xfrm xmlns:a="http://schemas.openxmlformats.org/drawingml/2006/main">
            <a:off x="609600" y="32385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Current contribution</a:t>
            </a:r>
          </a:p>
        </p:txBody>
      </p:sp>
      <p:sp>
        <p:nvSpPr>
          <p:cNvPr id="6" name="">
            <a:extLst xmlns:a="http://schemas.openxmlformats.org/drawingml/2006/main">
              <a:ext uri="{FF2B5EF4-FFF2-40B4-BE49-F238E27FC236}">
                <a16:creationId xmlns:a16="http://schemas.microsoft.com/office/drawing/2014/main" id="{99A150A0-6B80-4801-A976-301CACD16C2B}"/>
              </a:ext>
            </a:extLst>
          </p:cNvPr>
          <p:cNvSpPr>
            <a:spLocks xmlns:a="http://schemas.openxmlformats.org/drawingml/2006/main" noGrp="1"/>
          </p:cNvSpPr>
          <p:nvPr/>
        </p:nvSpPr>
        <p:spPr>
          <a:xfrm xmlns:a="http://schemas.openxmlformats.org/drawingml/2006/main">
            <a:off x="3981450" y="3238500"/>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Evidence-linked inventory, controlled review, revision checks and reproducible local experiments.</a:t>
            </a:r>
          </a:p>
        </p:txBody>
      </p:sp>
      <p:sp>
        <p:nvSpPr>
          <p:cNvPr id="7" name="">
            <a:extLst xmlns:a="http://schemas.openxmlformats.org/drawingml/2006/main">
              <a:ext uri="{FF2B5EF4-FFF2-40B4-BE49-F238E27FC236}">
                <a16:creationId xmlns:a16="http://schemas.microsoft.com/office/drawing/2014/main" id="{46A4FA06-BBB9-485E-849C-E56972916172}"/>
              </a:ext>
            </a:extLst>
          </p:cNvPr>
          <p:cNvSpPr>
            <a:spLocks xmlns:a="http://schemas.openxmlformats.org/drawingml/2006/main" noGrp="1"/>
          </p:cNvSpPr>
          <p:nvPr/>
        </p:nvSpPr>
        <p:spPr>
          <a:xfrm xmlns:a="http://schemas.openxmlformats.org/drawingml/2006/main">
            <a:off x="609600" y="426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Next acceptance steps</a:t>
            </a:r>
          </a:p>
        </p:txBody>
      </p:sp>
      <p:sp>
        <p:nvSpPr>
          <p:cNvPr id="8" name="">
            <a:extLst xmlns:a="http://schemas.openxmlformats.org/drawingml/2006/main">
              <a:ext uri="{FF2B5EF4-FFF2-40B4-BE49-F238E27FC236}">
                <a16:creationId xmlns:a16="http://schemas.microsoft.com/office/drawing/2014/main" id="{13A2308A-54BE-4E53-B54E-CDB15E5D2479}"/>
              </a:ext>
            </a:extLst>
          </p:cNvPr>
          <p:cNvSpPr>
            <a:spLocks xmlns:a="http://schemas.openxmlformats.org/drawingml/2006/main" noGrp="1"/>
          </p:cNvSpPr>
          <p:nvPr/>
        </p:nvSpPr>
        <p:spPr>
          <a:xfrm xmlns:a="http://schemas.openxmlformats.org/drawingml/2006/main">
            <a:off x="3981450" y="4267200"/>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Regression suite passes. Qualify OEM accuracy and answers with independent architects.</a:t>
            </a:r>
          </a:p>
        </p:txBody>
      </p:sp>
      <p:sp>
        <p:nvSpPr>
          <p:cNvPr id="9" name="">
            <a:extLst xmlns:a="http://schemas.openxmlformats.org/drawingml/2006/main">
              <a:ext uri="{FF2B5EF4-FFF2-40B4-BE49-F238E27FC236}">
                <a16:creationId xmlns:a16="http://schemas.microsoft.com/office/drawing/2014/main" id="{16D3AA7B-CC30-410E-A4E4-85B40E823C37}"/>
              </a:ext>
            </a:extLst>
          </p:cNvPr>
          <p:cNvSpPr>
            <a:spLocks xmlns:a="http://schemas.openxmlformats.org/drawingml/2006/main" noGrp="1"/>
          </p:cNvSpPr>
          <p:nvPr/>
        </p:nvSpPr>
        <p:spPr>
          <a:xfrm xmlns:a="http://schemas.openxmlformats.org/drawingml/2006/main">
            <a:off x="609600" y="52959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Value assessment</a:t>
            </a:r>
          </a:p>
        </p:txBody>
      </p:sp>
      <p:sp>
        <p:nvSpPr>
          <p:cNvPr id="10" name="">
            <a:extLst xmlns:a="http://schemas.openxmlformats.org/drawingml/2006/main">
              <a:ext uri="{FF2B5EF4-FFF2-40B4-BE49-F238E27FC236}">
                <a16:creationId xmlns:a16="http://schemas.microsoft.com/office/drawing/2014/main" id="{0D6995D1-DAC5-41CB-B2AD-C0BBCACD0331}"/>
              </a:ext>
            </a:extLst>
          </p:cNvPr>
          <p:cNvSpPr>
            <a:spLocks xmlns:a="http://schemas.openxmlformats.org/drawingml/2006/main" noGrp="1"/>
          </p:cNvSpPr>
          <p:nvPr/>
        </p:nvSpPr>
        <p:spPr>
          <a:xfrm xmlns:a="http://schemas.openxmlformats.org/drawingml/2006/main">
            <a:off x="3981450" y="5295900"/>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Measure active review time in a supervised pilot before claiming productivity gains.</a:t>
            </a:r>
          </a:p>
        </p:txBody>
      </p:sp>
    </p:spTree>
    <p:extLst>
      <p:ext uri="{BB962C8B-B14F-4D97-AF65-F5344CB8AC3E}">
        <p14:creationId xmlns:p14="http://schemas.microsoft.com/office/powerpoint/2010/main" val="1664590435"/>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A79B861-A8D6-473F-92B6-70740C03AA2A}"/>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653"/>
                </a:solidFill>
                <a:latin typeface="Arial"/>
                <a:ea typeface="Arial"/>
                <a:cs typeface="Arial"/>
              </a:defRPr>
            </a:defPPr>
          </a:lstStyle>
          <a:p xmlns:a="http://schemas.openxmlformats.org/drawingml/2006/main">
            <a:pPr>
              <a:defRPr sz="3300" b="1">
                <a:solidFill>
                  <a:srgbClr val="193653"/>
                </a:solidFill>
                <a:latin typeface="Arial"/>
                <a:ea typeface="Arial"/>
                <a:cs typeface="Arial"/>
              </a:defRPr>
            </a:pPr>
            <a:r>
              <a:rPr sz="3300" b="1">
                <a:solidFill>
                  <a:srgbClr val="193653"/>
                </a:solidFill>
                <a:latin typeface="Arial"/>
                <a:ea typeface="Arial"/>
                <a:cs typeface="Arial"/>
              </a:rPr>
              <a:t>Live demonstration plan: 10 minutes</a:t>
            </a:r>
          </a:p>
        </p:txBody>
      </p:sp>
      <p:sp>
        <p:nvSpPr>
          <p:cNvPr id="2" name="">
            <a:extLst xmlns:a="http://schemas.openxmlformats.org/drawingml/2006/main">
              <a:ext uri="{FF2B5EF4-FFF2-40B4-BE49-F238E27FC236}">
                <a16:creationId xmlns:a16="http://schemas.microsoft.com/office/drawing/2014/main" id="{CD415D1D-F43E-4D66-ABCA-9F9B7F167BE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APPENDIX   HLD Navigator</a:t>
            </a:r>
          </a:p>
        </p:txBody>
      </p:sp>
      <p:sp>
        <p:nvSpPr>
          <p:cNvPr id="3" name="">
            <a:extLst xmlns:a="http://schemas.openxmlformats.org/drawingml/2006/main">
              <a:ext uri="{FF2B5EF4-FFF2-40B4-BE49-F238E27FC236}">
                <a16:creationId xmlns:a16="http://schemas.microsoft.com/office/drawing/2014/main" id="{983EFB42-17D6-42D9-9E7F-F3CF30786AEF}"/>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1372123B-F831-4089-AD8E-0AB505A8916F}"/>
              </a:ext>
            </a:extLst>
          </p:cNvPr>
          <p:cNvGraphicFramePr/>
          <p:nvPr/>
        </p:nvGraphicFramePr>
        <p:xfrm>
          <a:off xmlns:a="http://schemas.openxmlformats.org/drawingml/2006/main" x="609600" y="1676400"/>
          <a:ext xmlns:a="http://schemas.openxmlformats.org/drawingml/2006/main" cx="10972800" cy="4114800"/>
        </p:xfrm>
        <a:graphic xmlns:a="http://schemas.openxmlformats.org/drawingml/2006/main">
          <a:graphicData uri="http://schemas.openxmlformats.org/drawingml/2006/table">
            <a:tbl>
              <a:tblPr/>
              <a:tblGrid>
                <a:gridCol w="1809750"/>
                <a:gridCol w="3810000"/>
                <a:gridCol w="5353050"/>
              </a:tblGrid>
              <a:tr h="685800">
                <a:tc>
                  <a:txBody>
                    <a:bodyPr/>
                    <a:lstStyle/>
                    <a:p>
                      <a:r>
                        <a:rPr sz="1725" b="1">
                          <a:solidFill>
                            <a:srgbClr val="FFFFFF"/>
                          </a:solidFill>
                          <a:latin typeface="Arial"/>
                          <a:ea typeface="Arial"/>
                          <a:cs typeface="Arial"/>
                        </a:rPr>
                        <a:t>Time</a:t>
                      </a:r>
                    </a:p>
                  </a:txBody>
                  <a:tcPr marL="91440" marR="91440" marT="45720" marB="45720">
                    <a:solidFill>
                      <a:srgbClr val="193653"/>
                    </a:solidFill>
                  </a:tcPr>
                </a:tc>
                <a:tc>
                  <a:txBody>
                    <a:bodyPr/>
                    <a:lstStyle/>
                    <a:p>
                      <a:r>
                        <a:rPr sz="1725" b="1">
                          <a:solidFill>
                            <a:srgbClr val="FFFFFF"/>
                          </a:solidFill>
                          <a:latin typeface="Arial"/>
                          <a:ea typeface="Arial"/>
                          <a:cs typeface="Arial"/>
                        </a:rPr>
                        <a:t>Action</a:t>
                      </a:r>
                    </a:p>
                  </a:txBody>
                  <a:tcPr marL="91440" marR="91440" marT="45720" marB="45720">
                    <a:solidFill>
                      <a:srgbClr val="193653"/>
                    </a:solidFill>
                  </a:tcPr>
                </a:tc>
                <a:tc>
                  <a:txBody>
                    <a:bodyPr/>
                    <a:lstStyle/>
                    <a:p>
                      <a:r>
                        <a:rPr sz="1725" b="1">
                          <a:solidFill>
                            <a:srgbClr val="FFFFFF"/>
                          </a:solidFill>
                          <a:latin typeface="Arial"/>
                          <a:ea typeface="Arial"/>
                          <a:cs typeface="Arial"/>
                        </a:rPr>
                        <a:t>Evidence shown</a:t>
                      </a:r>
                    </a:p>
                  </a:txBody>
                  <a:tcPr marL="91440" marR="91440" marT="45720" marB="45720">
                    <a:solidFill>
                      <a:srgbClr val="193653"/>
                    </a:solidFill>
                  </a:tcPr>
                </a:tc>
              </a:tr>
              <a:tr h="685800">
                <a:tc>
                  <a:txBody>
                    <a:bodyPr/>
                    <a:lstStyle/>
                    <a:p>
                      <a:r>
                        <a:rPr sz="1725" b="0">
                          <a:solidFill>
                            <a:srgbClr val="193653"/>
                          </a:solidFill>
                          <a:latin typeface="Arial"/>
                          <a:ea typeface="Arial"/>
                          <a:cs typeface="Arial"/>
                        </a:rPr>
                        <a:t>0:00–1:30</a:t>
                      </a:r>
                    </a:p>
                  </a:txBody>
                  <a:tcPr marL="91440" marR="91440" marT="45720" marB="45720">
                    <a:solidFill>
                      <a:srgbClr val="FFFFFF"/>
                    </a:solidFill>
                  </a:tcPr>
                </a:tc>
                <a:tc>
                  <a:txBody>
                    <a:bodyPr/>
                    <a:lstStyle/>
                    <a:p>
                      <a:r>
                        <a:rPr sz="1725" b="0">
                          <a:solidFill>
                            <a:srgbClr val="193653"/>
                          </a:solidFill>
                          <a:latin typeface="Arial"/>
                          <a:ea typeface="Arial"/>
                          <a:cs typeface="Arial"/>
                        </a:rPr>
                        <a:t>Upload synthetic torque-prose.md</a:t>
                      </a:r>
                    </a:p>
                  </a:txBody>
                  <a:tcPr marL="91440" marR="91440" marT="45720" marB="45720">
                    <a:solidFill>
                      <a:srgbClr val="FFFFFF"/>
                    </a:solidFill>
                  </a:tcPr>
                </a:tc>
                <a:tc>
                  <a:txBody>
                    <a:bodyPr/>
                    <a:lstStyle/>
                    <a:p>
                      <a:r>
                        <a:rPr sz="1725" b="0">
                          <a:solidFill>
                            <a:srgbClr val="193653"/>
                          </a:solidFill>
                          <a:latin typeface="Arial"/>
                          <a:ea typeface="Arial"/>
                          <a:cs typeface="Arial"/>
                        </a:rPr>
                        <a:t>Version, hash and source blocks</a:t>
                      </a:r>
                    </a:p>
                  </a:txBody>
                  <a:tcPr marL="91440" marR="91440" marT="45720" marB="45720">
                    <a:solidFill>
                      <a:srgbClr val="FFFFFF"/>
                    </a:solidFill>
                  </a:tcPr>
                </a:tc>
              </a:tr>
              <a:tr h="685800">
                <a:tc>
                  <a:txBody>
                    <a:bodyPr/>
                    <a:lstStyle/>
                    <a:p>
                      <a:r>
                        <a:rPr sz="1725" b="0">
                          <a:solidFill>
                            <a:srgbClr val="193653"/>
                          </a:solidFill>
                          <a:latin typeface="Arial"/>
                          <a:ea typeface="Arial"/>
                          <a:cs typeface="Arial"/>
                        </a:rPr>
                        <a:t>1:30–4:00</a:t>
                      </a:r>
                    </a:p>
                  </a:txBody>
                  <a:tcPr marL="91440" marR="91440" marT="45720" marB="45720">
                    <a:solidFill>
                      <a:srgbClr val="EDF2F7"/>
                    </a:solidFill>
                  </a:tcPr>
                </a:tc>
                <a:tc>
                  <a:txBody>
                    <a:bodyPr/>
                    <a:lstStyle/>
                    <a:p>
                      <a:r>
                        <a:rPr sz="1725" b="0">
                          <a:solidFill>
                            <a:srgbClr val="193653"/>
                          </a:solidFill>
                          <a:latin typeface="Arial"/>
                          <a:ea typeface="Arial"/>
                          <a:cs typeface="Arial"/>
                        </a:rPr>
                        <a:t>Inspect and review proposals</a:t>
                      </a:r>
                    </a:p>
                  </a:txBody>
                  <a:tcPr marL="91440" marR="91440" marT="45720" marB="45720">
                    <a:solidFill>
                      <a:srgbClr val="EDF2F7"/>
                    </a:solidFill>
                  </a:tcPr>
                </a:tc>
                <a:tc>
                  <a:txBody>
                    <a:bodyPr/>
                    <a:lstStyle/>
                    <a:p>
                      <a:r>
                        <a:rPr sz="1725" b="0">
                          <a:solidFill>
                            <a:srgbClr val="193653"/>
                          </a:solidFill>
                          <a:latin typeface="Arial"/>
                          <a:ea typeface="Arial"/>
                          <a:cs typeface="Arial"/>
                        </a:rPr>
                        <a:t>Entities, citations, warning decisions</a:t>
                      </a:r>
                    </a:p>
                  </a:txBody>
                  <a:tcPr marL="91440" marR="91440" marT="45720" marB="45720">
                    <a:solidFill>
                      <a:srgbClr val="EDF2F7"/>
                    </a:solidFill>
                  </a:tcPr>
                </a:tc>
              </a:tr>
              <a:tr h="685800">
                <a:tc>
                  <a:txBody>
                    <a:bodyPr/>
                    <a:lstStyle/>
                    <a:p>
                      <a:r>
                        <a:rPr sz="1725" b="0">
                          <a:solidFill>
                            <a:srgbClr val="193653"/>
                          </a:solidFill>
                          <a:latin typeface="Arial"/>
                          <a:ea typeface="Arial"/>
                          <a:cs typeface="Arial"/>
                        </a:rPr>
                        <a:t>4:00–6:00</a:t>
                      </a:r>
                    </a:p>
                  </a:txBody>
                  <a:tcPr marL="91440" marR="91440" marT="45720" marB="45720">
                    <a:solidFill>
                      <a:srgbClr val="FFFFFF"/>
                    </a:solidFill>
                  </a:tcPr>
                </a:tc>
                <a:tc>
                  <a:txBody>
                    <a:bodyPr/>
                    <a:lstStyle/>
                    <a:p>
                      <a:r>
                        <a:rPr sz="1725" b="0">
                          <a:solidFill>
                            <a:srgbClr val="193653"/>
                          </a:solidFill>
                          <a:latin typeface="Arial"/>
                          <a:ea typeface="Arial"/>
                          <a:cs typeface="Arial"/>
                        </a:rPr>
                        <a:t>Search approved facts</a:t>
                      </a:r>
                    </a:p>
                  </a:txBody>
                  <a:tcPr marL="91440" marR="91440" marT="45720" marB="45720">
                    <a:solidFill>
                      <a:srgbClr val="FFFFFF"/>
                    </a:solidFill>
                  </a:tcPr>
                </a:tc>
                <a:tc>
                  <a:txBody>
                    <a:bodyPr/>
                    <a:lstStyle/>
                    <a:p>
                      <a:r>
                        <a:rPr sz="1725" b="0">
                          <a:solidFill>
                            <a:srgbClr val="193653"/>
                          </a:solidFill>
                          <a:latin typeface="Arial"/>
                          <a:ea typeface="Arial"/>
                          <a:cs typeface="Arial"/>
                        </a:rPr>
                        <a:t>Cited evidence and revision scope</a:t>
                      </a:r>
                    </a:p>
                  </a:txBody>
                  <a:tcPr marL="91440" marR="91440" marT="45720" marB="45720">
                    <a:solidFill>
                      <a:srgbClr val="FFFFFF"/>
                    </a:solidFill>
                  </a:tcPr>
                </a:tc>
              </a:tr>
              <a:tr h="685800">
                <a:tc>
                  <a:txBody>
                    <a:bodyPr/>
                    <a:lstStyle/>
                    <a:p>
                      <a:r>
                        <a:rPr sz="1725" b="0">
                          <a:solidFill>
                            <a:srgbClr val="193653"/>
                          </a:solidFill>
                          <a:latin typeface="Arial"/>
                          <a:ea typeface="Arial"/>
                          <a:cs typeface="Arial"/>
                        </a:rPr>
                        <a:t>6:00–8:00</a:t>
                      </a:r>
                    </a:p>
                  </a:txBody>
                  <a:tcPr marL="91440" marR="91440" marT="45720" marB="45720">
                    <a:solidFill>
                      <a:srgbClr val="EDF2F7"/>
                    </a:solidFill>
                  </a:tcPr>
                </a:tc>
                <a:tc>
                  <a:txBody>
                    <a:bodyPr/>
                    <a:lstStyle/>
                    <a:p>
                      <a:r>
                        <a:rPr sz="1725" b="0">
                          <a:solidFill>
                            <a:srgbClr val="193653"/>
                          </a:solidFill>
                          <a:latin typeface="Arial"/>
                          <a:ea typeface="Arial"/>
                          <a:cs typeface="Arial"/>
                        </a:rPr>
                        <a:t>Compare edited revision</a:t>
                      </a:r>
                    </a:p>
                  </a:txBody>
                  <a:tcPr marL="91440" marR="91440" marT="45720" marB="45720">
                    <a:solidFill>
                      <a:srgbClr val="EDF2F7"/>
                    </a:solidFill>
                  </a:tcPr>
                </a:tc>
                <a:tc>
                  <a:txBody>
                    <a:bodyPr/>
                    <a:lstStyle/>
                    <a:p>
                      <a:r>
                        <a:rPr sz="1725" b="0">
                          <a:solidFill>
                            <a:srgbClr val="193653"/>
                          </a:solidFill>
                          <a:latin typeface="Arial"/>
                          <a:ea typeface="Arial"/>
                          <a:cs typeface="Arial"/>
                        </a:rPr>
                        <a:t>Direction/type findings and impact paths</a:t>
                      </a:r>
                    </a:p>
                  </a:txBody>
                  <a:tcPr marL="91440" marR="91440" marT="45720" marB="45720">
                    <a:solidFill>
                      <a:srgbClr val="EDF2F7"/>
                    </a:solidFill>
                  </a:tcPr>
                </a:tc>
              </a:tr>
              <a:tr h="685800">
                <a:tc>
                  <a:txBody>
                    <a:bodyPr/>
                    <a:lstStyle/>
                    <a:p>
                      <a:r>
                        <a:rPr sz="1725" b="0">
                          <a:solidFill>
                            <a:srgbClr val="193653"/>
                          </a:solidFill>
                          <a:latin typeface="Arial"/>
                          <a:ea typeface="Arial"/>
                          <a:cs typeface="Arial"/>
                        </a:rPr>
                        <a:t>8:00–10:00</a:t>
                      </a:r>
                    </a:p>
                  </a:txBody>
                  <a:tcPr marL="91440" marR="91440" marT="45720" marB="45720">
                    <a:solidFill>
                      <a:srgbClr val="FFFFFF"/>
                    </a:solidFill>
                  </a:tcPr>
                </a:tc>
                <a:tc>
                  <a:txBody>
                    <a:bodyPr/>
                    <a:lstStyle/>
                    <a:p>
                      <a:r>
                        <a:rPr sz="1725" b="0">
                          <a:solidFill>
                            <a:srgbClr val="193653"/>
                          </a:solidFill>
                          <a:latin typeface="Arial"/>
                          <a:ea typeface="Arial"/>
                          <a:cs typeface="Arial"/>
                        </a:rPr>
                        <a:t>Export and test a blocker</a:t>
                      </a:r>
                    </a:p>
                  </a:txBody>
                  <a:tcPr marL="91440" marR="91440" marT="45720" marB="45720">
                    <a:solidFill>
                      <a:srgbClr val="FFFFFF"/>
                    </a:solidFill>
                  </a:tcPr>
                </a:tc>
                <a:tc>
                  <a:txBody>
                    <a:bodyPr/>
                    <a:lstStyle/>
                    <a:p>
                      <a:r>
                        <a:rPr sz="1725" b="0">
                          <a:solidFill>
                            <a:srgbClr val="193653"/>
                          </a:solidFill>
                          <a:latin typeface="Arial"/>
                          <a:ea typeface="Arial"/>
                          <a:cs typeface="Arial"/>
                        </a:rPr>
                        <a:t>Reviewed inventory and HTTP 409 on unresolved warnings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89062667"/>
      </p:ext>
    </p:extLst>
  </p:cSld>
</p:sld>
</file>

<file path=ppt/slides/slide1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5CEE1B3-43B9-418A-8F6E-CBE41903AAC8}"/>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653"/>
                </a:solidFill>
                <a:latin typeface="Arial"/>
                <a:ea typeface="Arial"/>
                <a:cs typeface="Arial"/>
              </a:defRPr>
            </a:defPPr>
          </a:lstStyle>
          <a:p xmlns:a="http://schemas.openxmlformats.org/drawingml/2006/main">
            <a:pPr>
              <a:defRPr sz="3300" b="1">
                <a:solidFill>
                  <a:srgbClr val="193653"/>
                </a:solidFill>
                <a:latin typeface="Arial"/>
                <a:ea typeface="Arial"/>
                <a:cs typeface="Arial"/>
              </a:defRPr>
            </a:pPr>
            <a:r>
              <a:rPr sz="3300" b="1">
                <a:solidFill>
                  <a:srgbClr val="193653"/>
                </a:solidFill>
                <a:latin typeface="Arial"/>
                <a:ea typeface="Arial"/>
                <a:cs typeface="Arial"/>
              </a:rPr>
              <a:t>Model, prompt and runtime configuration</a:t>
            </a:r>
          </a:p>
        </p:txBody>
      </p:sp>
      <p:sp>
        <p:nvSpPr>
          <p:cNvPr id="2" name="">
            <a:extLst xmlns:a="http://schemas.openxmlformats.org/drawingml/2006/main">
              <a:ext uri="{FF2B5EF4-FFF2-40B4-BE49-F238E27FC236}">
                <a16:creationId xmlns:a16="http://schemas.microsoft.com/office/drawing/2014/main" id="{A6CF945E-26B9-48A5-BA04-FB69B295641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APPENDIX   HLD Navigator</a:t>
            </a:r>
          </a:p>
        </p:txBody>
      </p:sp>
      <p:sp>
        <p:nvSpPr>
          <p:cNvPr id="3" name="">
            <a:extLst xmlns:a="http://schemas.openxmlformats.org/drawingml/2006/main">
              <a:ext uri="{FF2B5EF4-FFF2-40B4-BE49-F238E27FC236}">
                <a16:creationId xmlns:a16="http://schemas.microsoft.com/office/drawing/2014/main" id="{779F3837-77C8-4231-A176-396BC0A7185C}"/>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3D10DC12-8577-4C1A-8A3A-828B0D4E0659}"/>
              </a:ext>
            </a:extLst>
          </p:cNvPr>
          <p:cNvGraphicFramePr/>
          <p:nvPr/>
        </p:nvGraphicFramePr>
        <p:xfrm>
          <a:off xmlns:a="http://schemas.openxmlformats.org/drawingml/2006/main" x="609600" y="1638300"/>
          <a:ext xmlns:a="http://schemas.openxmlformats.org/drawingml/2006/main" cx="10972800" cy="4286250"/>
        </p:xfrm>
        <a:graphic xmlns:a="http://schemas.openxmlformats.org/drawingml/2006/main">
          <a:graphicData uri="http://schemas.openxmlformats.org/drawingml/2006/table">
            <a:tbl>
              <a:tblPr/>
              <a:tblGrid>
                <a:gridCol w="3143250"/>
                <a:gridCol w="7829550"/>
              </a:tblGrid>
              <a:tr h="612321">
                <a:tc>
                  <a:txBody>
                    <a:bodyPr/>
                    <a:lstStyle/>
                    <a:p>
                      <a:r>
                        <a:rPr sz="1725" b="1">
                          <a:solidFill>
                            <a:srgbClr val="FFFFFF"/>
                          </a:solidFill>
                          <a:latin typeface="Arial"/>
                          <a:ea typeface="Arial"/>
                          <a:cs typeface="Arial"/>
                        </a:rPr>
                        <a:t>Item</a:t>
                      </a:r>
                    </a:p>
                  </a:txBody>
                  <a:tcPr marL="91440" marR="91440" marT="45720" marB="45720">
                    <a:solidFill>
                      <a:srgbClr val="193653"/>
                    </a:solidFill>
                  </a:tcPr>
                </a:tc>
                <a:tc>
                  <a:txBody>
                    <a:bodyPr/>
                    <a:lstStyle/>
                    <a:p>
                      <a:r>
                        <a:rPr sz="1725" b="1">
                          <a:solidFill>
                            <a:srgbClr val="FFFFFF"/>
                          </a:solidFill>
                          <a:latin typeface="Arial"/>
                          <a:ea typeface="Arial"/>
                          <a:cs typeface="Arial"/>
                        </a:rPr>
                        <a:t>Recorded configuration</a:t>
                      </a:r>
                    </a:p>
                  </a:txBody>
                  <a:tcPr marL="91440" marR="91440" marT="45720" marB="45720">
                    <a:solidFill>
                      <a:srgbClr val="193653"/>
                    </a:solidFill>
                  </a:tcPr>
                </a:tc>
              </a:tr>
              <a:tr h="612321">
                <a:tc>
                  <a:txBody>
                    <a:bodyPr/>
                    <a:lstStyle/>
                    <a:p>
                      <a:r>
                        <a:rPr sz="1725" b="0">
                          <a:solidFill>
                            <a:srgbClr val="193653"/>
                          </a:solidFill>
                          <a:latin typeface="Arial"/>
                          <a:ea typeface="Arial"/>
                          <a:cs typeface="Arial"/>
                        </a:rPr>
                        <a:t>Application</a:t>
                      </a:r>
                    </a:p>
                  </a:txBody>
                  <a:tcPr marL="91440" marR="91440" marT="45720" marB="45720">
                    <a:solidFill>
                      <a:srgbClr val="FFFFFF"/>
                    </a:solidFill>
                  </a:tcPr>
                </a:tc>
                <a:tc>
                  <a:txBody>
                    <a:bodyPr/>
                    <a:lstStyle/>
                    <a:p>
                      <a:r>
                        <a:rPr sz="1725" b="0">
                          <a:solidFill>
                            <a:srgbClr val="193653"/>
                          </a:solidFill>
                          <a:latin typeface="Arial"/>
                          <a:ea typeface="Arial"/>
                          <a:cs typeface="Arial"/>
                        </a:rPr>
                        <a:t>Python 3.11+, FastAPI, Streamlit, pdfplumber and SQLite</a:t>
                      </a:r>
                    </a:p>
                  </a:txBody>
                  <a:tcPr marL="91440" marR="91440" marT="45720" marB="45720">
                    <a:solidFill>
                      <a:srgbClr val="FFFFFF"/>
                    </a:solidFill>
                  </a:tcPr>
                </a:tc>
              </a:tr>
              <a:tr h="612321">
                <a:tc>
                  <a:txBody>
                    <a:bodyPr/>
                    <a:lstStyle/>
                    <a:p>
                      <a:r>
                        <a:rPr sz="1725" b="0">
                          <a:solidFill>
                            <a:srgbClr val="193653"/>
                          </a:solidFill>
                          <a:latin typeface="Arial"/>
                          <a:ea typeface="Arial"/>
                          <a:cs typeface="Arial"/>
                        </a:rPr>
                        <a:t>Embedding experiment</a:t>
                      </a:r>
                    </a:p>
                  </a:txBody>
                  <a:tcPr marL="91440" marR="91440" marT="45720" marB="45720">
                    <a:solidFill>
                      <a:srgbClr val="EDF2F7"/>
                    </a:solidFill>
                  </a:tcPr>
                </a:tc>
                <a:tc>
                  <a:txBody>
                    <a:bodyPr/>
                    <a:lstStyle/>
                    <a:p>
                      <a:r>
                        <a:rPr sz="1725" b="0">
                          <a:solidFill>
                            <a:srgbClr val="193653"/>
                          </a:solidFill>
                          <a:latin typeface="Arial"/>
                          <a:ea typeface="Arial"/>
                          <a:cs typeface="Arial"/>
                        </a:rPr>
                        <a:t>BGE-small-en-v1.5 f16, mean pooling, no query prefix</a:t>
                      </a:r>
                    </a:p>
                  </a:txBody>
                  <a:tcPr marL="91440" marR="91440" marT="45720" marB="45720">
                    <a:solidFill>
                      <a:srgbClr val="EDF2F7"/>
                    </a:solidFill>
                  </a:tcPr>
                </a:tc>
              </a:tr>
              <a:tr h="612321">
                <a:tc>
                  <a:txBody>
                    <a:bodyPr/>
                    <a:lstStyle/>
                    <a:p>
                      <a:r>
                        <a:rPr sz="1725" b="0">
                          <a:solidFill>
                            <a:srgbClr val="193653"/>
                          </a:solidFill>
                          <a:latin typeface="Arial"/>
                          <a:ea typeface="Arial"/>
                          <a:cs typeface="Arial"/>
                        </a:rPr>
                        <a:t>Answer experiment</a:t>
                      </a:r>
                    </a:p>
                  </a:txBody>
                  <a:tcPr marL="91440" marR="91440" marT="45720" marB="45720">
                    <a:solidFill>
                      <a:srgbClr val="FFFFFF"/>
                    </a:solidFill>
                  </a:tcPr>
                </a:tc>
                <a:tc>
                  <a:txBody>
                    <a:bodyPr/>
                    <a:lstStyle/>
                    <a:p>
                      <a:r>
                        <a:rPr sz="1725" b="0">
                          <a:solidFill>
                            <a:srgbClr val="193653"/>
                          </a:solidFill>
                          <a:latin typeface="Arial"/>
                          <a:ea typeface="Arial"/>
                          <a:cs typeface="Arial"/>
                        </a:rPr>
                        <a:t>Qwen2.5-7B-Instruct Q4_K_M on llama.cpp b11490 CPU</a:t>
                      </a:r>
                    </a:p>
                  </a:txBody>
                  <a:tcPr marL="91440" marR="91440" marT="45720" marB="45720">
                    <a:solidFill>
                      <a:srgbClr val="FFFFFF"/>
                    </a:solidFill>
                  </a:tcPr>
                </a:tc>
              </a:tr>
              <a:tr h="612321">
                <a:tc>
                  <a:txBody>
                    <a:bodyPr/>
                    <a:lstStyle/>
                    <a:p>
                      <a:r>
                        <a:rPr sz="1725" b="0">
                          <a:solidFill>
                            <a:srgbClr val="193653"/>
                          </a:solidFill>
                          <a:latin typeface="Arial"/>
                          <a:ea typeface="Arial"/>
                          <a:cs typeface="Arial"/>
                        </a:rPr>
                        <a:t>Generation settings</a:t>
                      </a:r>
                    </a:p>
                  </a:txBody>
                  <a:tcPr marL="91440" marR="91440" marT="45720" marB="45720">
                    <a:solidFill>
                      <a:srgbClr val="EDF2F7"/>
                    </a:solidFill>
                  </a:tcPr>
                </a:tc>
                <a:tc>
                  <a:txBody>
                    <a:bodyPr/>
                    <a:lstStyle/>
                    <a:p>
                      <a:r>
                        <a:rPr sz="1725" b="0">
                          <a:solidFill>
                            <a:srgbClr val="193653"/>
                          </a:solidFill>
                          <a:latin typeface="Arial"/>
                          <a:ea typeface="Arial"/>
                          <a:cs typeface="Arial"/>
                        </a:rPr>
                        <a:t>Temperature 0, max_tokens 512, context 2048, 4 CPU threads</a:t>
                      </a:r>
                    </a:p>
                  </a:txBody>
                  <a:tcPr marL="91440" marR="91440" marT="45720" marB="45720">
                    <a:solidFill>
                      <a:srgbClr val="EDF2F7"/>
                    </a:solidFill>
                  </a:tcPr>
                </a:tc>
              </a:tr>
              <a:tr h="612321">
                <a:tc>
                  <a:txBody>
                    <a:bodyPr/>
                    <a:lstStyle/>
                    <a:p>
                      <a:r>
                        <a:rPr sz="1725" b="0">
                          <a:solidFill>
                            <a:srgbClr val="193653"/>
                          </a:solidFill>
                          <a:latin typeface="Arial"/>
                          <a:ea typeface="Arial"/>
                          <a:cs typeface="Arial"/>
                        </a:rPr>
                        <a:t>Prompt / support rule</a:t>
                      </a:r>
                    </a:p>
                  </a:txBody>
                  <a:tcPr marL="91440" marR="91440" marT="45720" marB="45720">
                    <a:solidFill>
                      <a:srgbClr val="FFFFFF"/>
                    </a:solidFill>
                  </a:tcPr>
                </a:tc>
                <a:tc>
                  <a:txBody>
                    <a:bodyPr/>
                    <a:lstStyle/>
                    <a:p>
                      <a:r>
                        <a:rPr sz="1725" b="0">
                          <a:solidFill>
                            <a:srgbClr val="193653"/>
                          </a:solidFill>
                          <a:latin typeface="Arial"/>
                          <a:ea typeface="Arial"/>
                          <a:cs typeface="Arial"/>
                        </a:rPr>
                        <a:t>Treat sources as untrusted. JSON claims, exact snippets, explicit abstention/conflicts.</a:t>
                      </a:r>
                    </a:p>
                  </a:txBody>
                  <a:tcPr marL="91440" marR="91440" marT="45720" marB="45720">
                    <a:solidFill>
                      <a:srgbClr val="FFFFFF"/>
                    </a:solidFill>
                  </a:tcPr>
                </a:tc>
              </a:tr>
              <a:tr h="612321">
                <a:tc>
                  <a:txBody>
                    <a:bodyPr/>
                    <a:lstStyle/>
                    <a:p>
                      <a:r>
                        <a:rPr sz="1725" b="0">
                          <a:solidFill>
                            <a:srgbClr val="193653"/>
                          </a:solidFill>
                          <a:latin typeface="Arial"/>
                          <a:ea typeface="Arial"/>
                          <a:cs typeface="Arial"/>
                        </a:rPr>
                        <a:t>Model lifecycle</a:t>
                      </a:r>
                    </a:p>
                  </a:txBody>
                  <a:tcPr marL="91440" marR="91440" marT="45720" marB="45720">
                    <a:solidFill>
                      <a:srgbClr val="EDF2F7"/>
                    </a:solidFill>
                  </a:tcPr>
                </a:tc>
                <a:tc>
                  <a:txBody>
                    <a:bodyPr/>
                    <a:lstStyle/>
                    <a:p>
                      <a:r>
                        <a:rPr sz="1725" b="0">
                          <a:solidFill>
                            <a:srgbClr val="193653"/>
                          </a:solidFill>
                          <a:latin typeface="Arial"/>
                          <a:ea typeface="Arial"/>
                          <a:cs typeface="Arial"/>
                        </a:rPr>
                        <a:t>Pinned artifacts/hashes, revision/model fingerprints, explicit indexing</a:t>
                      </a:r>
                    </a:p>
                  </a:txBody>
                  <a:tcPr marL="91440" marR="91440" marT="45720" marB="45720">
                    <a:solidFill>
                      <a:srgbClr val="EDF2F7"/>
                    </a:solidFill>
                  </a:tcPr>
                </a:tc>
              </a:tr>
            </a:tbl>
          </a:graphicData>
        </a:graphic>
      </p:graphicFrame>
    </p:spTree>
    <p:extLst>
      <p:ext uri="{BB962C8B-B14F-4D97-AF65-F5344CB8AC3E}">
        <p14:creationId xmlns:p14="http://schemas.microsoft.com/office/powerpoint/2010/main" val="205256543"/>
      </p:ext>
    </p:extLst>
  </p:cSld>
</p:sld>
</file>

<file path=ppt/slides/slide1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77E029F-8476-4870-93D3-9A4BF4C1818A}"/>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653"/>
                </a:solidFill>
                <a:latin typeface="Arial"/>
                <a:ea typeface="Arial"/>
                <a:cs typeface="Arial"/>
              </a:defRPr>
            </a:defPPr>
          </a:lstStyle>
          <a:p xmlns:a="http://schemas.openxmlformats.org/drawingml/2006/main">
            <a:pPr>
              <a:defRPr sz="3300" b="1">
                <a:solidFill>
                  <a:srgbClr val="193653"/>
                </a:solidFill>
                <a:latin typeface="Arial"/>
                <a:ea typeface="Arial"/>
                <a:cs typeface="Arial"/>
              </a:defRPr>
            </a:pPr>
            <a:r>
              <a:rPr sz="3300" b="1">
                <a:solidFill>
                  <a:srgbClr val="193653"/>
                </a:solidFill>
                <a:latin typeface="Arial"/>
                <a:ea typeface="Arial"/>
                <a:cs typeface="Arial"/>
              </a:rPr>
              <a:t>Rubric coverage: criteria 1–6</a:t>
            </a:r>
          </a:p>
        </p:txBody>
      </p:sp>
      <p:sp>
        <p:nvSpPr>
          <p:cNvPr id="2" name="">
            <a:extLst xmlns:a="http://schemas.openxmlformats.org/drawingml/2006/main">
              <a:ext uri="{FF2B5EF4-FFF2-40B4-BE49-F238E27FC236}">
                <a16:creationId xmlns:a16="http://schemas.microsoft.com/office/drawing/2014/main" id="{DF0BCA40-945D-4943-BE07-9E9A74EDFF4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APPENDIX   HLD Navigator</a:t>
            </a:r>
          </a:p>
        </p:txBody>
      </p:sp>
      <p:sp>
        <p:nvSpPr>
          <p:cNvPr id="3" name="">
            <a:extLst xmlns:a="http://schemas.openxmlformats.org/drawingml/2006/main">
              <a:ext uri="{FF2B5EF4-FFF2-40B4-BE49-F238E27FC236}">
                <a16:creationId xmlns:a16="http://schemas.microsoft.com/office/drawing/2014/main" id="{5F0B257A-A42F-41E8-AF77-63593EE40864}"/>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15</a:t>
            </a:r>
          </a:p>
        </p:txBody>
      </p:sp>
      <p:graphicFrame>
        <p:nvGraphicFramePr>
          <p:cNvPr id="4" name="">
            <a:extLst xmlns:a="http://schemas.openxmlformats.org/drawingml/2006/main">
              <a:ext uri="{FF2B5EF4-FFF2-40B4-BE49-F238E27FC236}">
                <a16:creationId xmlns:a16="http://schemas.microsoft.com/office/drawing/2014/main" id="{3F181980-FA3E-44A6-BF29-4EA00C9B2C56}"/>
              </a:ext>
            </a:extLst>
          </p:cNvPr>
          <p:cNvGraphicFramePr/>
          <p:nvPr/>
        </p:nvGraphicFramePr>
        <p:xfrm>
          <a:off xmlns:a="http://schemas.openxmlformats.org/drawingml/2006/main" x="609600" y="1638300"/>
          <a:ext xmlns:a="http://schemas.openxmlformats.org/drawingml/2006/main" cx="10972800" cy="4286250"/>
        </p:xfrm>
        <a:graphic xmlns:a="http://schemas.openxmlformats.org/drawingml/2006/main">
          <a:graphicData uri="http://schemas.openxmlformats.org/drawingml/2006/table">
            <a:tbl>
              <a:tblPr/>
              <a:tblGrid>
                <a:gridCol w="4429125"/>
                <a:gridCol w="952500"/>
                <a:gridCol w="5591175"/>
              </a:tblGrid>
              <a:tr h="612321">
                <a:tc>
                  <a:txBody>
                    <a:bodyPr/>
                    <a:lstStyle/>
                    <a:p>
                      <a:r>
                        <a:rPr sz="1650" b="1">
                          <a:solidFill>
                            <a:srgbClr val="FFFFFF"/>
                          </a:solidFill>
                          <a:latin typeface="Arial"/>
                          <a:ea typeface="Arial"/>
                          <a:cs typeface="Arial"/>
                        </a:rPr>
                        <a:t>Criterion</a:t>
                      </a:r>
                    </a:p>
                  </a:txBody>
                  <a:tcPr marL="91440" marR="91440" marT="45720" marB="45720">
                    <a:solidFill>
                      <a:srgbClr val="193653"/>
                    </a:solidFill>
                  </a:tcPr>
                </a:tc>
                <a:tc>
                  <a:txBody>
                    <a:bodyPr/>
                    <a:lstStyle/>
                    <a:p>
                      <a:r>
                        <a:rPr sz="1650" b="1">
                          <a:solidFill>
                            <a:srgbClr val="FFFFFF"/>
                          </a:solidFill>
                          <a:latin typeface="Arial"/>
                          <a:ea typeface="Arial"/>
                          <a:cs typeface="Arial"/>
                        </a:rPr>
                        <a:t>Marks</a:t>
                      </a:r>
                    </a:p>
                  </a:txBody>
                  <a:tcPr marL="91440" marR="91440" marT="45720" marB="45720">
                    <a:solidFill>
                      <a:srgbClr val="193653"/>
                    </a:solidFill>
                  </a:tcPr>
                </a:tc>
                <a:tc>
                  <a:txBody>
                    <a:bodyPr/>
                    <a:lstStyle/>
                    <a:p>
                      <a:r>
                        <a:rPr sz="1650" b="1">
                          <a:solidFill>
                            <a:srgbClr val="FFFFFF"/>
                          </a:solidFill>
                          <a:latin typeface="Arial"/>
                          <a:ea typeface="Arial"/>
                          <a:cs typeface="Arial"/>
                        </a:rPr>
                        <a:t>Deck evidence / remaining gap</a:t>
                      </a:r>
                    </a:p>
                  </a:txBody>
                  <a:tcPr marL="91440" marR="91440" marT="45720" marB="45720">
                    <a:solidFill>
                      <a:srgbClr val="193653"/>
                    </a:solidFill>
                  </a:tcPr>
                </a:tc>
              </a:tr>
              <a:tr h="612321">
                <a:tc>
                  <a:txBody>
                    <a:bodyPr/>
                    <a:lstStyle/>
                    <a:p>
                      <a:r>
                        <a:rPr sz="1650" b="0">
                          <a:solidFill>
                            <a:srgbClr val="193653"/>
                          </a:solidFill>
                          <a:latin typeface="Arial"/>
                          <a:ea typeface="Arial"/>
                          <a:cs typeface="Arial"/>
                        </a:rPr>
                        <a:t>1  Problem and industrial context</a:t>
                      </a:r>
                    </a:p>
                  </a:txBody>
                  <a:tcPr marL="91440" marR="91440" marT="45720" marB="45720">
                    <a:solidFill>
                      <a:srgbClr val="FFFFFF"/>
                    </a:solidFill>
                  </a:tcPr>
                </a:tc>
                <a:tc>
                  <a:txBody>
                    <a:bodyPr/>
                    <a:lstStyle/>
                    <a:p>
                      <a:r>
                        <a:rPr sz="1650" b="0">
                          <a:solidFill>
                            <a:srgbClr val="193653"/>
                          </a:solidFill>
                          <a:latin typeface="Arial"/>
                          <a:ea typeface="Arial"/>
                          <a:cs typeface="Arial"/>
                        </a:rPr>
                        <a:t>5</a:t>
                      </a:r>
                    </a:p>
                  </a:txBody>
                  <a:tcPr marL="91440" marR="91440" marT="45720" marB="45720">
                    <a:solidFill>
                      <a:srgbClr val="FFFFFF"/>
                    </a:solidFill>
                  </a:tcPr>
                </a:tc>
                <a:tc>
                  <a:txBody>
                    <a:bodyPr/>
                    <a:lstStyle/>
                    <a:p>
                      <a:r>
                        <a:rPr sz="1650" b="0">
                          <a:solidFill>
                            <a:srgbClr val="193653"/>
                          </a:solidFill>
                          <a:latin typeface="Arial"/>
                          <a:ea typeface="Arial"/>
                          <a:cs typeface="Arial"/>
                        </a:rPr>
                        <a:t>Slide 2: users, problem and proposed measures</a:t>
                      </a:r>
                    </a:p>
                  </a:txBody>
                  <a:tcPr marL="91440" marR="91440" marT="45720" marB="45720">
                    <a:solidFill>
                      <a:srgbClr val="FFFFFF"/>
                    </a:solidFill>
                  </a:tcPr>
                </a:tc>
              </a:tr>
              <a:tr h="612321">
                <a:tc>
                  <a:txBody>
                    <a:bodyPr/>
                    <a:lstStyle/>
                    <a:p>
                      <a:r>
                        <a:rPr sz="1650" b="0">
                          <a:solidFill>
                            <a:srgbClr val="193653"/>
                          </a:solidFill>
                          <a:latin typeface="Arial"/>
                          <a:ea typeface="Arial"/>
                          <a:cs typeface="Arial"/>
                        </a:rPr>
                        <a:t>2  AI/ML approach selection</a:t>
                      </a:r>
                    </a:p>
                  </a:txBody>
                  <a:tcPr marL="91440" marR="91440" marT="45720" marB="45720">
                    <a:solidFill>
                      <a:srgbClr val="EDF2F7"/>
                    </a:solidFill>
                  </a:tcPr>
                </a:tc>
                <a:tc>
                  <a:txBody>
                    <a:bodyPr/>
                    <a:lstStyle/>
                    <a:p>
                      <a:r>
                        <a:rPr sz="1650" b="0">
                          <a:solidFill>
                            <a:srgbClr val="193653"/>
                          </a:solidFill>
                          <a:latin typeface="Arial"/>
                          <a:ea typeface="Arial"/>
                          <a:cs typeface="Arial"/>
                        </a:rPr>
                        <a:t>5</a:t>
                      </a:r>
                    </a:p>
                  </a:txBody>
                  <a:tcPr marL="91440" marR="91440" marT="45720" marB="45720">
                    <a:solidFill>
                      <a:srgbClr val="EDF2F7"/>
                    </a:solidFill>
                  </a:tcPr>
                </a:tc>
                <a:tc>
                  <a:txBody>
                    <a:bodyPr/>
                    <a:lstStyle/>
                    <a:p>
                      <a:r>
                        <a:rPr sz="1650" b="0">
                          <a:solidFill>
                            <a:srgbClr val="193653"/>
                          </a:solidFill>
                          <a:latin typeface="Arial"/>
                          <a:ea typeface="Arial"/>
                          <a:cs typeface="Arial"/>
                        </a:rPr>
                        <a:t>Slide 4: patterns, lexical, embeddings and RAG</a:t>
                      </a:r>
                    </a:p>
                  </a:txBody>
                  <a:tcPr marL="91440" marR="91440" marT="45720" marB="45720">
                    <a:solidFill>
                      <a:srgbClr val="EDF2F7"/>
                    </a:solidFill>
                  </a:tcPr>
                </a:tc>
              </a:tr>
              <a:tr h="612321">
                <a:tc>
                  <a:txBody>
                    <a:bodyPr/>
                    <a:lstStyle/>
                    <a:p>
                      <a:r>
                        <a:rPr sz="1650" b="0">
                          <a:solidFill>
                            <a:srgbClr val="193653"/>
                          </a:solidFill>
                          <a:latin typeface="Arial"/>
                          <a:ea typeface="Arial"/>
                          <a:cs typeface="Arial"/>
                        </a:rPr>
                        <a:t>3  Dataset, preprocessing and EDA</a:t>
                      </a:r>
                    </a:p>
                  </a:txBody>
                  <a:tcPr marL="91440" marR="91440" marT="45720" marB="45720">
                    <a:solidFill>
                      <a:srgbClr val="FFFFFF"/>
                    </a:solidFill>
                  </a:tcPr>
                </a:tc>
                <a:tc>
                  <a:txBody>
                    <a:bodyPr/>
                    <a:lstStyle/>
                    <a:p>
                      <a:r>
                        <a:rPr sz="1650" b="0">
                          <a:solidFill>
                            <a:srgbClr val="193653"/>
                          </a:solidFill>
                          <a:latin typeface="Arial"/>
                          <a:ea typeface="Arial"/>
                          <a:cs typeface="Arial"/>
                        </a:rPr>
                        <a:t>15</a:t>
                      </a:r>
                    </a:p>
                  </a:txBody>
                  <a:tcPr marL="91440" marR="91440" marT="45720" marB="45720">
                    <a:solidFill>
                      <a:srgbClr val="FFFFFF"/>
                    </a:solidFill>
                  </a:tcPr>
                </a:tc>
                <a:tc>
                  <a:txBody>
                    <a:bodyPr/>
                    <a:lstStyle/>
                    <a:p>
                      <a:r>
                        <a:rPr sz="1650" b="0">
                          <a:solidFill>
                            <a:srgbClr val="193653"/>
                          </a:solidFill>
                          <a:latin typeface="Arial"/>
                          <a:ea typeface="Arial"/>
                          <a:cs typeface="Arial"/>
                        </a:rPr>
                        <a:t>Slide 5: quality/provenance. Independent holdout pending.</a:t>
                      </a:r>
                    </a:p>
                  </a:txBody>
                  <a:tcPr marL="91440" marR="91440" marT="45720" marB="45720">
                    <a:solidFill>
                      <a:srgbClr val="FFFFFF"/>
                    </a:solidFill>
                  </a:tcPr>
                </a:tc>
              </a:tr>
              <a:tr h="612321">
                <a:tc>
                  <a:txBody>
                    <a:bodyPr/>
                    <a:lstStyle/>
                    <a:p>
                      <a:r>
                        <a:rPr sz="1650" b="0">
                          <a:solidFill>
                            <a:srgbClr val="193653"/>
                          </a:solidFill>
                          <a:latin typeface="Arial"/>
                          <a:ea typeface="Arial"/>
                          <a:cs typeface="Arial"/>
                        </a:rPr>
                        <a:t>4  Feature representation and selection</a:t>
                      </a:r>
                    </a:p>
                  </a:txBody>
                  <a:tcPr marL="91440" marR="91440" marT="45720" marB="45720">
                    <a:solidFill>
                      <a:srgbClr val="EDF2F7"/>
                    </a:solidFill>
                  </a:tcPr>
                </a:tc>
                <a:tc>
                  <a:txBody>
                    <a:bodyPr/>
                    <a:lstStyle/>
                    <a:p>
                      <a:r>
                        <a:rPr sz="1650" b="0">
                          <a:solidFill>
                            <a:srgbClr val="193653"/>
                          </a:solidFill>
                          <a:latin typeface="Arial"/>
                          <a:ea typeface="Arial"/>
                          <a:cs typeface="Arial"/>
                        </a:rPr>
                        <a:t>8</a:t>
                      </a:r>
                    </a:p>
                  </a:txBody>
                  <a:tcPr marL="91440" marR="91440" marT="45720" marB="45720">
                    <a:solidFill>
                      <a:srgbClr val="EDF2F7"/>
                    </a:solidFill>
                  </a:tcPr>
                </a:tc>
                <a:tc>
                  <a:txBody>
                    <a:bodyPr/>
                    <a:lstStyle/>
                    <a:p>
                      <a:r>
                        <a:rPr sz="1650" b="0">
                          <a:solidFill>
                            <a:srgbClr val="193653"/>
                          </a:solidFill>
                          <a:latin typeface="Arial"/>
                          <a:ea typeface="Arial"/>
                          <a:cs typeface="Arial"/>
                        </a:rPr>
                        <a:t>Slide 7: schema/vectors. PCA not used.</a:t>
                      </a:r>
                    </a:p>
                  </a:txBody>
                  <a:tcPr marL="91440" marR="91440" marT="45720" marB="45720">
                    <a:solidFill>
                      <a:srgbClr val="EDF2F7"/>
                    </a:solidFill>
                  </a:tcPr>
                </a:tc>
              </a:tr>
              <a:tr h="612321">
                <a:tc>
                  <a:txBody>
                    <a:bodyPr/>
                    <a:lstStyle/>
                    <a:p>
                      <a:r>
                        <a:rPr sz="1650" b="0">
                          <a:solidFill>
                            <a:srgbClr val="193653"/>
                          </a:solidFill>
                          <a:latin typeface="Arial"/>
                          <a:ea typeface="Arial"/>
                          <a:cs typeface="Arial"/>
                        </a:rPr>
                        <a:t>5  Model development</a:t>
                      </a:r>
                    </a:p>
                  </a:txBody>
                  <a:tcPr marL="91440" marR="91440" marT="45720" marB="45720">
                    <a:solidFill>
                      <a:srgbClr val="FFFFFF"/>
                    </a:solidFill>
                  </a:tcPr>
                </a:tc>
                <a:tc>
                  <a:txBody>
                    <a:bodyPr/>
                    <a:lstStyle/>
                    <a:p>
                      <a:r>
                        <a:rPr sz="1650" b="0">
                          <a:solidFill>
                            <a:srgbClr val="193653"/>
                          </a:solidFill>
                          <a:latin typeface="Arial"/>
                          <a:ea typeface="Arial"/>
                          <a:cs typeface="Arial"/>
                        </a:rPr>
                        <a:t>18</a:t>
                      </a:r>
                    </a:p>
                  </a:txBody>
                  <a:tcPr marL="91440" marR="91440" marT="45720" marB="45720">
                    <a:solidFill>
                      <a:srgbClr val="FFFFFF"/>
                    </a:solidFill>
                  </a:tcPr>
                </a:tc>
                <a:tc>
                  <a:txBody>
                    <a:bodyPr/>
                    <a:lstStyle/>
                    <a:p>
                      <a:r>
                        <a:rPr sz="1650" b="0">
                          <a:solidFill>
                            <a:srgbClr val="193653"/>
                          </a:solidFill>
                          <a:latin typeface="Arial"/>
                          <a:ea typeface="Arial"/>
                          <a:cs typeface="Arial"/>
                        </a:rPr>
                        <a:t>Slides 4, 6, 10, 14: pre-trained model integration</a:t>
                      </a:r>
                    </a:p>
                  </a:txBody>
                  <a:tcPr marL="91440" marR="91440" marT="45720" marB="45720">
                    <a:solidFill>
                      <a:srgbClr val="FFFFFF"/>
                    </a:solidFill>
                  </a:tcPr>
                </a:tc>
              </a:tr>
              <a:tr h="612321">
                <a:tc>
                  <a:txBody>
                    <a:bodyPr/>
                    <a:lstStyle/>
                    <a:p>
                      <a:r>
                        <a:rPr sz="1650" b="0">
                          <a:solidFill>
                            <a:srgbClr val="193653"/>
                          </a:solidFill>
                          <a:latin typeface="Arial"/>
                          <a:ea typeface="Arial"/>
                          <a:cs typeface="Arial"/>
                        </a:rPr>
                        <a:t>6  Evaluation and optimization</a:t>
                      </a:r>
                    </a:p>
                  </a:txBody>
                  <a:tcPr marL="91440" marR="91440" marT="45720" marB="45720">
                    <a:solidFill>
                      <a:srgbClr val="EDF2F7"/>
                    </a:solidFill>
                  </a:tcPr>
                </a:tc>
                <a:tc>
                  <a:txBody>
                    <a:bodyPr/>
                    <a:lstStyle/>
                    <a:p>
                      <a:r>
                        <a:rPr sz="1650" b="0">
                          <a:solidFill>
                            <a:srgbClr val="193653"/>
                          </a:solidFill>
                          <a:latin typeface="Arial"/>
                          <a:ea typeface="Arial"/>
                          <a:cs typeface="Arial"/>
                        </a:rPr>
                        <a:t>15</a:t>
                      </a:r>
                    </a:p>
                  </a:txBody>
                  <a:tcPr marL="91440" marR="91440" marT="45720" marB="45720">
                    <a:solidFill>
                      <a:srgbClr val="EDF2F7"/>
                    </a:solidFill>
                  </a:tcPr>
                </a:tc>
                <a:tc>
                  <a:txBody>
                    <a:bodyPr/>
                    <a:lstStyle/>
                    <a:p>
                      <a:r>
                        <a:rPr sz="1650" b="0">
                          <a:solidFill>
                            <a:srgbClr val="193653"/>
                          </a:solidFill>
                          <a:latin typeface="Arial"/>
                          <a:ea typeface="Arial"/>
                          <a:cs typeface="Arial"/>
                        </a:rPr>
                        <a:t>Slides 9–10: measured failures and comparison</a:t>
                      </a:r>
                    </a:p>
                  </a:txBody>
                  <a:tcPr marL="91440" marR="91440" marT="45720" marB="45720">
                    <a:solidFill>
                      <a:srgbClr val="EDF2F7"/>
                    </a:solidFill>
                  </a:tcPr>
                </a:tc>
              </a:tr>
            </a:tbl>
          </a:graphicData>
        </a:graphic>
      </p:graphicFrame>
    </p:spTree>
    <p:extLst>
      <p:ext uri="{BB962C8B-B14F-4D97-AF65-F5344CB8AC3E}">
        <p14:creationId xmlns:p14="http://schemas.microsoft.com/office/powerpoint/2010/main" val="1567560738"/>
      </p:ext>
    </p:extLst>
  </p:cSld>
</p:sld>
</file>

<file path=ppt/slides/slide1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EF0CCF9-3281-4289-A89B-75595863626B}"/>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653"/>
                </a:solidFill>
                <a:latin typeface="Arial"/>
                <a:ea typeface="Arial"/>
                <a:cs typeface="Arial"/>
              </a:defRPr>
            </a:defPPr>
          </a:lstStyle>
          <a:p xmlns:a="http://schemas.openxmlformats.org/drawingml/2006/main">
            <a:pPr>
              <a:defRPr sz="3300" b="1">
                <a:solidFill>
                  <a:srgbClr val="193653"/>
                </a:solidFill>
                <a:latin typeface="Arial"/>
                <a:ea typeface="Arial"/>
                <a:cs typeface="Arial"/>
              </a:defRPr>
            </a:pPr>
            <a:r>
              <a:rPr sz="3300" b="1">
                <a:solidFill>
                  <a:srgbClr val="193653"/>
                </a:solidFill>
                <a:latin typeface="Arial"/>
                <a:ea typeface="Arial"/>
                <a:cs typeface="Arial"/>
              </a:rPr>
              <a:t>Rubric coverage: criteria 7–12</a:t>
            </a:r>
          </a:p>
        </p:txBody>
      </p:sp>
      <p:sp>
        <p:nvSpPr>
          <p:cNvPr id="2" name="">
            <a:extLst xmlns:a="http://schemas.openxmlformats.org/drawingml/2006/main">
              <a:ext uri="{FF2B5EF4-FFF2-40B4-BE49-F238E27FC236}">
                <a16:creationId xmlns:a16="http://schemas.microsoft.com/office/drawing/2014/main" id="{20771407-AB94-4A29-A833-C9BF625AEE3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APPENDIX   HLD Navigator</a:t>
            </a:r>
          </a:p>
        </p:txBody>
      </p:sp>
      <p:sp>
        <p:nvSpPr>
          <p:cNvPr id="3" name="">
            <a:extLst xmlns:a="http://schemas.openxmlformats.org/drawingml/2006/main">
              <a:ext uri="{FF2B5EF4-FFF2-40B4-BE49-F238E27FC236}">
                <a16:creationId xmlns:a16="http://schemas.microsoft.com/office/drawing/2014/main" id="{1D5B35E5-03E5-432A-AA0D-2E5DCBA5921D}"/>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16</a:t>
            </a:r>
          </a:p>
        </p:txBody>
      </p:sp>
      <p:graphicFrame>
        <p:nvGraphicFramePr>
          <p:cNvPr id="4" name="">
            <a:extLst xmlns:a="http://schemas.openxmlformats.org/drawingml/2006/main">
              <a:ext uri="{FF2B5EF4-FFF2-40B4-BE49-F238E27FC236}">
                <a16:creationId xmlns:a16="http://schemas.microsoft.com/office/drawing/2014/main" id="{E413D16A-16FE-4AC1-AF27-8DB25DE36317}"/>
              </a:ext>
            </a:extLst>
          </p:cNvPr>
          <p:cNvGraphicFramePr/>
          <p:nvPr/>
        </p:nvGraphicFramePr>
        <p:xfrm>
          <a:off xmlns:a="http://schemas.openxmlformats.org/drawingml/2006/main" x="609600" y="1638300"/>
          <a:ext xmlns:a="http://schemas.openxmlformats.org/drawingml/2006/main" cx="10972800" cy="4286250"/>
        </p:xfrm>
        <a:graphic xmlns:a="http://schemas.openxmlformats.org/drawingml/2006/main">
          <a:graphicData uri="http://schemas.openxmlformats.org/drawingml/2006/table">
            <a:tbl>
              <a:tblPr/>
              <a:tblGrid>
                <a:gridCol w="4429125"/>
                <a:gridCol w="952500"/>
                <a:gridCol w="5591175"/>
              </a:tblGrid>
              <a:tr h="612321">
                <a:tc>
                  <a:txBody>
                    <a:bodyPr/>
                    <a:lstStyle/>
                    <a:p>
                      <a:r>
                        <a:rPr sz="1650" b="1">
                          <a:solidFill>
                            <a:srgbClr val="FFFFFF"/>
                          </a:solidFill>
                          <a:latin typeface="Arial"/>
                          <a:ea typeface="Arial"/>
                          <a:cs typeface="Arial"/>
                        </a:rPr>
                        <a:t>Criterion</a:t>
                      </a:r>
                    </a:p>
                  </a:txBody>
                  <a:tcPr marL="91440" marR="91440" marT="45720" marB="45720">
                    <a:solidFill>
                      <a:srgbClr val="193653"/>
                    </a:solidFill>
                  </a:tcPr>
                </a:tc>
                <a:tc>
                  <a:txBody>
                    <a:bodyPr/>
                    <a:lstStyle/>
                    <a:p>
                      <a:r>
                        <a:rPr sz="1650" b="1">
                          <a:solidFill>
                            <a:srgbClr val="FFFFFF"/>
                          </a:solidFill>
                          <a:latin typeface="Arial"/>
                          <a:ea typeface="Arial"/>
                          <a:cs typeface="Arial"/>
                        </a:rPr>
                        <a:t>Marks</a:t>
                      </a:r>
                    </a:p>
                  </a:txBody>
                  <a:tcPr marL="91440" marR="91440" marT="45720" marB="45720">
                    <a:solidFill>
                      <a:srgbClr val="193653"/>
                    </a:solidFill>
                  </a:tcPr>
                </a:tc>
                <a:tc>
                  <a:txBody>
                    <a:bodyPr/>
                    <a:lstStyle/>
                    <a:p>
                      <a:r>
                        <a:rPr sz="1650" b="1">
                          <a:solidFill>
                            <a:srgbClr val="FFFFFF"/>
                          </a:solidFill>
                          <a:latin typeface="Arial"/>
                          <a:ea typeface="Arial"/>
                          <a:cs typeface="Arial"/>
                        </a:rPr>
                        <a:t>Deck evidence / remaining gap</a:t>
                      </a:r>
                    </a:p>
                  </a:txBody>
                  <a:tcPr marL="91440" marR="91440" marT="45720" marB="45720">
                    <a:solidFill>
                      <a:srgbClr val="193653"/>
                    </a:solidFill>
                  </a:tcPr>
                </a:tc>
              </a:tr>
              <a:tr h="612321">
                <a:tc>
                  <a:txBody>
                    <a:bodyPr/>
                    <a:lstStyle/>
                    <a:p>
                      <a:r>
                        <a:rPr sz="1650" b="0">
                          <a:solidFill>
                            <a:srgbClr val="193653"/>
                          </a:solidFill>
                          <a:latin typeface="Arial"/>
                          <a:ea typeface="Arial"/>
                          <a:cs typeface="Arial"/>
                        </a:rPr>
                        <a:t>7  Completeness and working demo</a:t>
                      </a:r>
                    </a:p>
                  </a:txBody>
                  <a:tcPr marL="91440" marR="91440" marT="45720" marB="45720">
                    <a:solidFill>
                      <a:srgbClr val="FFFFFF"/>
                    </a:solidFill>
                  </a:tcPr>
                </a:tc>
                <a:tc>
                  <a:txBody>
                    <a:bodyPr/>
                    <a:lstStyle/>
                    <a:p>
                      <a:r>
                        <a:rPr sz="1650" b="0">
                          <a:solidFill>
                            <a:srgbClr val="193653"/>
                          </a:solidFill>
                          <a:latin typeface="Arial"/>
                          <a:ea typeface="Arial"/>
                          <a:cs typeface="Arial"/>
                        </a:rPr>
                        <a:t>15</a:t>
                      </a:r>
                    </a:p>
                  </a:txBody>
                  <a:tcPr marL="91440" marR="91440" marT="45720" marB="45720">
                    <a:solidFill>
                      <a:srgbClr val="FFFFFF"/>
                    </a:solidFill>
                  </a:tcPr>
                </a:tc>
                <a:tc>
                  <a:txBody>
                    <a:bodyPr/>
                    <a:lstStyle/>
                    <a:p>
                      <a:r>
                        <a:rPr sz="1650" b="0">
                          <a:solidFill>
                            <a:srgbClr val="193653"/>
                          </a:solidFill>
                          <a:latin typeface="Arial"/>
                          <a:ea typeface="Arial"/>
                          <a:cs typeface="Arial"/>
                        </a:rPr>
                        <a:t>Slide 13: reproducible demo. OEM qualification pending.</a:t>
                      </a:r>
                    </a:p>
                  </a:txBody>
                  <a:tcPr marL="91440" marR="91440" marT="45720" marB="45720">
                    <a:solidFill>
                      <a:srgbClr val="FFFFFF"/>
                    </a:solidFill>
                  </a:tcPr>
                </a:tc>
              </a:tr>
              <a:tr h="612321">
                <a:tc>
                  <a:txBody>
                    <a:bodyPr/>
                    <a:lstStyle/>
                    <a:p>
                      <a:r>
                        <a:rPr sz="1650" b="0">
                          <a:solidFill>
                            <a:srgbClr val="193653"/>
                          </a:solidFill>
                          <a:latin typeface="Arial"/>
                          <a:ea typeface="Arial"/>
                          <a:cs typeface="Arial"/>
                        </a:rPr>
                        <a:t>8  Python implementation / code quality</a:t>
                      </a:r>
                    </a:p>
                  </a:txBody>
                  <a:tcPr marL="91440" marR="91440" marT="45720" marB="45720">
                    <a:solidFill>
                      <a:srgbClr val="EDF2F7"/>
                    </a:solidFill>
                  </a:tcPr>
                </a:tc>
                <a:tc>
                  <a:txBody>
                    <a:bodyPr/>
                    <a:lstStyle/>
                    <a:p>
                      <a:r>
                        <a:rPr sz="1650" b="0">
                          <a:solidFill>
                            <a:srgbClr val="193653"/>
                          </a:solidFill>
                          <a:latin typeface="Arial"/>
                          <a:ea typeface="Arial"/>
                          <a:cs typeface="Arial"/>
                        </a:rPr>
                        <a:t>6</a:t>
                      </a:r>
                    </a:p>
                  </a:txBody>
                  <a:tcPr marL="91440" marR="91440" marT="45720" marB="45720">
                    <a:solidFill>
                      <a:srgbClr val="EDF2F7"/>
                    </a:solidFill>
                  </a:tcPr>
                </a:tc>
                <a:tc>
                  <a:txBody>
                    <a:bodyPr/>
                    <a:lstStyle/>
                    <a:p>
                      <a:r>
                        <a:rPr sz="1650" b="0">
                          <a:solidFill>
                            <a:srgbClr val="193653"/>
                          </a:solidFill>
                          <a:latin typeface="Arial"/>
                          <a:ea typeface="Arial"/>
                          <a:cs typeface="Arial"/>
                        </a:rPr>
                        <a:t>Modules, regression records and lint evidence</a:t>
                      </a:r>
                    </a:p>
                  </a:txBody>
                  <a:tcPr marL="91440" marR="91440" marT="45720" marB="45720">
                    <a:solidFill>
                      <a:srgbClr val="EDF2F7"/>
                    </a:solidFill>
                  </a:tcPr>
                </a:tc>
              </a:tr>
              <a:tr h="612321">
                <a:tc>
                  <a:txBody>
                    <a:bodyPr/>
                    <a:lstStyle/>
                    <a:p>
                      <a:r>
                        <a:rPr sz="1650" b="0">
                          <a:solidFill>
                            <a:srgbClr val="193653"/>
                          </a:solidFill>
                          <a:latin typeface="Arial"/>
                          <a:ea typeface="Arial"/>
                          <a:cs typeface="Arial"/>
                        </a:rPr>
                        <a:t>9  Deployment and MLOps basics</a:t>
                      </a:r>
                    </a:p>
                  </a:txBody>
                  <a:tcPr marL="91440" marR="91440" marT="45720" marB="45720">
                    <a:solidFill>
                      <a:srgbClr val="FFFFFF"/>
                    </a:solidFill>
                  </a:tcPr>
                </a:tc>
                <a:tc>
                  <a:txBody>
                    <a:bodyPr/>
                    <a:lstStyle/>
                    <a:p>
                      <a:r>
                        <a:rPr sz="1650" b="0">
                          <a:solidFill>
                            <a:srgbClr val="193653"/>
                          </a:solidFill>
                          <a:latin typeface="Arial"/>
                          <a:ea typeface="Arial"/>
                          <a:cs typeface="Arial"/>
                        </a:rPr>
                        <a:t>5</a:t>
                      </a:r>
                    </a:p>
                  </a:txBody>
                  <a:tcPr marL="91440" marR="91440" marT="45720" marB="45720">
                    <a:solidFill>
                      <a:srgbClr val="FFFFFF"/>
                    </a:solidFill>
                  </a:tcPr>
                </a:tc>
                <a:tc>
                  <a:txBody>
                    <a:bodyPr/>
                    <a:lstStyle/>
                    <a:p>
                      <a:r>
                        <a:rPr sz="1650" b="0">
                          <a:solidFill>
                            <a:srgbClr val="193653"/>
                          </a:solidFill>
                          <a:latin typeface="Arial"/>
                          <a:ea typeface="Arial"/>
                          <a:cs typeface="Arial"/>
                        </a:rPr>
                        <a:t>Local launch, hashes/versioning. Hardening pending.</a:t>
                      </a:r>
                    </a:p>
                  </a:txBody>
                  <a:tcPr marL="91440" marR="91440" marT="45720" marB="45720">
                    <a:solidFill>
                      <a:srgbClr val="FFFFFF"/>
                    </a:solidFill>
                  </a:tcPr>
                </a:tc>
              </a:tr>
              <a:tr h="612321">
                <a:tc>
                  <a:txBody>
                    <a:bodyPr/>
                    <a:lstStyle/>
                    <a:p>
                      <a:r>
                        <a:rPr sz="1650" b="0">
                          <a:solidFill>
                            <a:srgbClr val="193653"/>
                          </a:solidFill>
                          <a:latin typeface="Arial"/>
                          <a:ea typeface="Arial"/>
                          <a:cs typeface="Arial"/>
                        </a:rPr>
                        <a:t>10 Responsible AI and ethics</a:t>
                      </a:r>
                    </a:p>
                  </a:txBody>
                  <a:tcPr marL="91440" marR="91440" marT="45720" marB="45720">
                    <a:solidFill>
                      <a:srgbClr val="EDF2F7"/>
                    </a:solidFill>
                  </a:tcPr>
                </a:tc>
                <a:tc>
                  <a:txBody>
                    <a:bodyPr/>
                    <a:lstStyle/>
                    <a:p>
                      <a:r>
                        <a:rPr sz="1650" b="0">
                          <a:solidFill>
                            <a:srgbClr val="193653"/>
                          </a:solidFill>
                          <a:latin typeface="Arial"/>
                          <a:ea typeface="Arial"/>
                          <a:cs typeface="Arial"/>
                        </a:rPr>
                        <a:t>3</a:t>
                      </a:r>
                    </a:p>
                  </a:txBody>
                  <a:tcPr marL="91440" marR="91440" marT="45720" marB="45720">
                    <a:solidFill>
                      <a:srgbClr val="EDF2F7"/>
                    </a:solidFill>
                  </a:tcPr>
                </a:tc>
                <a:tc>
                  <a:txBody>
                    <a:bodyPr/>
                    <a:lstStyle/>
                    <a:p>
                      <a:r>
                        <a:rPr sz="1650" b="0">
                          <a:solidFill>
                            <a:srgbClr val="193653"/>
                          </a:solidFill>
                          <a:latin typeface="Arial"/>
                          <a:ea typeface="Arial"/>
                          <a:cs typeface="Arial"/>
                        </a:rPr>
                        <a:t>Slide 11: governance, privacy and model failures</a:t>
                      </a:r>
                    </a:p>
                  </a:txBody>
                  <a:tcPr marL="91440" marR="91440" marT="45720" marB="45720">
                    <a:solidFill>
                      <a:srgbClr val="EDF2F7"/>
                    </a:solidFill>
                  </a:tcPr>
                </a:tc>
              </a:tr>
              <a:tr h="612321">
                <a:tc>
                  <a:txBody>
                    <a:bodyPr/>
                    <a:lstStyle/>
                    <a:p>
                      <a:r>
                        <a:rPr sz="1650" b="0">
                          <a:solidFill>
                            <a:srgbClr val="193653"/>
                          </a:solidFill>
                          <a:latin typeface="Arial"/>
                          <a:ea typeface="Arial"/>
                          <a:cs typeface="Arial"/>
                        </a:rPr>
                        <a:t>11 Technical Q&amp;A</a:t>
                      </a:r>
                    </a:p>
                  </a:txBody>
                  <a:tcPr marL="91440" marR="91440" marT="45720" marB="45720">
                    <a:solidFill>
                      <a:srgbClr val="FFFFFF"/>
                    </a:solidFill>
                  </a:tcPr>
                </a:tc>
                <a:tc>
                  <a:txBody>
                    <a:bodyPr/>
                    <a:lstStyle/>
                    <a:p>
                      <a:r>
                        <a:rPr sz="1650" b="0">
                          <a:solidFill>
                            <a:srgbClr val="193653"/>
                          </a:solidFill>
                          <a:latin typeface="Arial"/>
                          <a:ea typeface="Arial"/>
                          <a:cs typeface="Arial"/>
                        </a:rPr>
                        <a:t>3</a:t>
                      </a:r>
                    </a:p>
                  </a:txBody>
                  <a:tcPr marL="91440" marR="91440" marT="45720" marB="45720">
                    <a:solidFill>
                      <a:srgbClr val="FFFFFF"/>
                    </a:solidFill>
                  </a:tcPr>
                </a:tc>
                <a:tc>
                  <a:txBody>
                    <a:bodyPr/>
                    <a:lstStyle/>
                    <a:p>
                      <a:r>
                        <a:rPr sz="1650" b="0">
                          <a:solidFill>
                            <a:srgbClr val="193653"/>
                          </a:solidFill>
                          <a:latin typeface="Arial"/>
                          <a:ea typeface="Arial"/>
                          <a:cs typeface="Arial"/>
                        </a:rPr>
                        <a:t>Explain design, metrics, ownership and limitations</a:t>
                      </a:r>
                    </a:p>
                  </a:txBody>
                  <a:tcPr marL="91440" marR="91440" marT="45720" marB="45720">
                    <a:solidFill>
                      <a:srgbClr val="FFFFFF"/>
                    </a:solidFill>
                  </a:tcPr>
                </a:tc>
              </a:tr>
              <a:tr h="612321">
                <a:tc>
                  <a:txBody>
                    <a:bodyPr/>
                    <a:lstStyle/>
                    <a:p>
                      <a:r>
                        <a:rPr sz="1650" b="0">
                          <a:solidFill>
                            <a:srgbClr val="193653"/>
                          </a:solidFill>
                          <a:latin typeface="Arial"/>
                          <a:ea typeface="Arial"/>
                          <a:cs typeface="Arial"/>
                        </a:rPr>
                        <a:t>12 Communication and presentation</a:t>
                      </a:r>
                    </a:p>
                  </a:txBody>
                  <a:tcPr marL="91440" marR="91440" marT="45720" marB="45720">
                    <a:solidFill>
                      <a:srgbClr val="EDF2F7"/>
                    </a:solidFill>
                  </a:tcPr>
                </a:tc>
                <a:tc>
                  <a:txBody>
                    <a:bodyPr/>
                    <a:lstStyle/>
                    <a:p>
                      <a:r>
                        <a:rPr sz="1650" b="0">
                          <a:solidFill>
                            <a:srgbClr val="193653"/>
                          </a:solidFill>
                          <a:latin typeface="Arial"/>
                          <a:ea typeface="Arial"/>
                          <a:cs typeface="Arial"/>
                        </a:rPr>
                        <a:t>2</a:t>
                      </a:r>
                    </a:p>
                  </a:txBody>
                  <a:tcPr marL="91440" marR="91440" marT="45720" marB="45720">
                    <a:solidFill>
                      <a:srgbClr val="EDF2F7"/>
                    </a:solidFill>
                  </a:tcPr>
                </a:tc>
                <a:tc>
                  <a:txBody>
                    <a:bodyPr/>
                    <a:lstStyle/>
                    <a:p>
                      <a:r>
                        <a:rPr sz="1650" b="0">
                          <a:solidFill>
                            <a:srgbClr val="193653"/>
                          </a:solidFill>
                          <a:latin typeface="Arial"/>
                          <a:ea typeface="Arial"/>
                          <a:cs typeface="Arial"/>
                        </a:rPr>
                        <a:t>10-minute core narrative plus separate demo</a:t>
                      </a:r>
                    </a:p>
                  </a:txBody>
                  <a:tcPr marL="91440" marR="91440" marT="45720" marB="45720">
                    <a:solidFill>
                      <a:srgbClr val="EDF2F7"/>
                    </a:solidFill>
                  </a:tcPr>
                </a:tc>
              </a:tr>
            </a:tbl>
          </a:graphicData>
        </a:graphic>
      </p:graphicFrame>
    </p:spTree>
    <p:extLst>
      <p:ext uri="{BB962C8B-B14F-4D97-AF65-F5344CB8AC3E}">
        <p14:creationId xmlns:p14="http://schemas.microsoft.com/office/powerpoint/2010/main" val="1655597905"/>
      </p:ext>
    </p:extLst>
  </p:cSld>
</p:sld>
</file>

<file path=ppt/slides/slide1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31F53ED-E906-45CA-8411-196FDB447539}"/>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653"/>
                </a:solidFill>
                <a:latin typeface="Arial"/>
                <a:ea typeface="Arial"/>
                <a:cs typeface="Arial"/>
              </a:defRPr>
            </a:defPPr>
          </a:lstStyle>
          <a:p xmlns:a="http://schemas.openxmlformats.org/drawingml/2006/main">
            <a:pPr>
              <a:defRPr sz="3300" b="1">
                <a:solidFill>
                  <a:srgbClr val="193653"/>
                </a:solidFill>
                <a:latin typeface="Arial"/>
                <a:ea typeface="Arial"/>
                <a:cs typeface="Arial"/>
              </a:defRPr>
            </a:pPr>
            <a:r>
              <a:rPr sz="3300" b="1">
                <a:solidFill>
                  <a:srgbClr val="193653"/>
                </a:solidFill>
                <a:latin typeface="Arial"/>
                <a:ea typeface="Arial"/>
                <a:cs typeface="Arial"/>
              </a:rPr>
              <a:t>Submission package and integrity declarations</a:t>
            </a:r>
          </a:p>
        </p:txBody>
      </p:sp>
      <p:sp>
        <p:nvSpPr>
          <p:cNvPr id="2" name="">
            <a:extLst xmlns:a="http://schemas.openxmlformats.org/drawingml/2006/main">
              <a:ext uri="{FF2B5EF4-FFF2-40B4-BE49-F238E27FC236}">
                <a16:creationId xmlns:a16="http://schemas.microsoft.com/office/drawing/2014/main" id="{E2BF5AA2-3964-4D2C-882C-AFDBCADE099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APPENDIX   HLD Navigator</a:t>
            </a:r>
          </a:p>
        </p:txBody>
      </p:sp>
      <p:sp>
        <p:nvSpPr>
          <p:cNvPr id="3" name="">
            <a:extLst xmlns:a="http://schemas.openxmlformats.org/drawingml/2006/main">
              <a:ext uri="{FF2B5EF4-FFF2-40B4-BE49-F238E27FC236}">
                <a16:creationId xmlns:a16="http://schemas.microsoft.com/office/drawing/2014/main" id="{C15419B7-A865-4500-82F4-34D26FD335EA}"/>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58041D3A-2F44-47B6-B042-9BE318204F7E}"/>
              </a:ext>
            </a:extLst>
          </p:cNvPr>
          <p:cNvSpPr>
            <a:spLocks xmlns:a="http://schemas.openxmlformats.org/drawingml/2006/main" noGrp="1"/>
          </p:cNvSpPr>
          <p:nvPr/>
        </p:nvSpPr>
        <p:spPr>
          <a:xfrm xmlns:a="http://schemas.openxmlformats.org/drawingml/2006/main">
            <a:off x="609600" y="16002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76CAE"/>
                </a:solidFill>
                <a:latin typeface="Arial"/>
                <a:ea typeface="Arial"/>
                <a:cs typeface="Arial"/>
              </a:defRPr>
            </a:defPPr>
          </a:lstStyle>
          <a:p xmlns:a="http://schemas.openxmlformats.org/drawingml/2006/main">
            <a:pPr>
              <a:defRPr sz="1875" b="1">
                <a:solidFill>
                  <a:srgbClr val="276CAE"/>
                </a:solidFill>
                <a:latin typeface="Arial"/>
                <a:ea typeface="Arial"/>
                <a:cs typeface="Arial"/>
              </a:defRPr>
            </a:pPr>
            <a:r>
              <a:rPr sz="1875" b="1">
                <a:solidFill>
                  <a:srgbClr val="276CAE"/>
                </a:solidFill>
                <a:latin typeface="Arial"/>
                <a:ea typeface="Arial"/>
                <a:cs typeface="Arial"/>
              </a:rPr>
              <a:t>Root: UniversityName_StudentName_RegisterNo_CS1_AIML/</a:t>
            </a:r>
          </a:p>
        </p:txBody>
      </p:sp>
      <p:sp>
        <p:nvSpPr>
          <p:cNvPr id="5" name="">
            <a:extLst xmlns:a="http://schemas.openxmlformats.org/drawingml/2006/main">
              <a:ext uri="{FF2B5EF4-FFF2-40B4-BE49-F238E27FC236}">
                <a16:creationId xmlns:a16="http://schemas.microsoft.com/office/drawing/2014/main" id="{F67E9509-71F9-4334-A378-AED06831F335}"/>
              </a:ext>
            </a:extLst>
          </p:cNvPr>
          <p:cNvSpPr>
            <a:spLocks xmlns:a="http://schemas.openxmlformats.org/drawingml/2006/main" noGrp="1"/>
          </p:cNvSpPr>
          <p:nvPr/>
        </p:nvSpPr>
        <p:spPr>
          <a:xfrm xmlns:a="http://schemas.openxmlformats.org/drawingml/2006/main">
            <a:off x="609600" y="2438400"/>
            <a:ext cx="4095750" cy="3267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653"/>
                </a:solidFill>
                <a:latin typeface="Arial"/>
                <a:ea typeface="Arial"/>
                <a:cs typeface="Arial"/>
              </a:defRPr>
            </a:defPPr>
          </a:lstStyle>
          <a:p xmlns:a="http://schemas.openxmlformats.org/drawingml/2006/main">
            <a:pPr>
              <a:defRPr sz="2100" b="0">
                <a:solidFill>
                  <a:srgbClr val="193653"/>
                </a:solidFill>
                <a:latin typeface="Arial"/>
                <a:ea typeface="Arial"/>
                <a:cs typeface="Arial"/>
              </a:defRPr>
            </a:pPr>
            <a:r>
              <a:rPr sz="2100" b="0">
                <a:solidFill>
                  <a:srgbClr val="193653"/>
                </a:solidFill>
                <a:latin typeface="Arial"/>
                <a:ea typeface="Arial"/>
                <a:cs typeface="Arial"/>
              </a:rPr>
              <a:t>Synopsis/</a:t>
            </a:r>
          </a:p>
          <a:p xmlns:a="http://schemas.openxmlformats.org/drawingml/2006/main">
            <a:pPr>
              <a:defRPr sz="2100" b="0">
                <a:solidFill>
                  <a:srgbClr val="193653"/>
                </a:solidFill>
                <a:latin typeface="Arial"/>
                <a:ea typeface="Arial"/>
                <a:cs typeface="Arial"/>
              </a:defRPr>
            </a:pPr>
            <a:r>
              <a:rPr sz="2100" b="0">
                <a:solidFill>
                  <a:srgbClr val="193653"/>
                </a:solidFill>
                <a:latin typeface="Arial"/>
                <a:ea typeface="Arial"/>
                <a:cs typeface="Arial"/>
              </a:rPr>
              <a:t>Input_Data/</a:t>
            </a:r>
          </a:p>
          <a:p xmlns:a="http://schemas.openxmlformats.org/drawingml/2006/main">
            <a:pPr>
              <a:defRPr sz="2100" b="0">
                <a:solidFill>
                  <a:srgbClr val="193653"/>
                </a:solidFill>
                <a:latin typeface="Arial"/>
                <a:ea typeface="Arial"/>
                <a:cs typeface="Arial"/>
              </a:defRPr>
            </a:pPr>
            <a:r>
              <a:rPr sz="2100" b="0">
                <a:solidFill>
                  <a:srgbClr val="193653"/>
                </a:solidFill>
                <a:latin typeface="Arial"/>
                <a:ea typeface="Arial"/>
                <a:cs typeface="Arial"/>
              </a:rPr>
              <a:t>Code/</a:t>
            </a:r>
          </a:p>
          <a:p xmlns:a="http://schemas.openxmlformats.org/drawingml/2006/main">
            <a:pPr>
              <a:defRPr sz="2100" b="0">
                <a:solidFill>
                  <a:srgbClr val="193653"/>
                </a:solidFill>
                <a:latin typeface="Arial"/>
                <a:ea typeface="Arial"/>
                <a:cs typeface="Arial"/>
              </a:defRPr>
            </a:pPr>
            <a:r>
              <a:rPr sz="2100" b="0">
                <a:solidFill>
                  <a:srgbClr val="193653"/>
                </a:solidFill>
                <a:latin typeface="Arial"/>
                <a:ea typeface="Arial"/>
                <a:cs typeface="Arial"/>
              </a:rPr>
              <a:t>Model_Prompts_Config/</a:t>
            </a:r>
          </a:p>
          <a:p xmlns:a="http://schemas.openxmlformats.org/drawingml/2006/main">
            <a:pPr>
              <a:defRPr sz="2100" b="0">
                <a:solidFill>
                  <a:srgbClr val="193653"/>
                </a:solidFill>
                <a:latin typeface="Arial"/>
                <a:ea typeface="Arial"/>
                <a:cs typeface="Arial"/>
              </a:defRPr>
            </a:pPr>
            <a:r>
              <a:rPr sz="2100" b="0">
                <a:solidFill>
                  <a:srgbClr val="193653"/>
                </a:solidFill>
                <a:latin typeface="Arial"/>
                <a:ea typeface="Arial"/>
                <a:cs typeface="Arial"/>
              </a:rPr>
              <a:t>Evaluation_Results/</a:t>
            </a:r>
          </a:p>
          <a:p xmlns:a="http://schemas.openxmlformats.org/drawingml/2006/main">
            <a:pPr>
              <a:defRPr sz="2100" b="0">
                <a:solidFill>
                  <a:srgbClr val="193653"/>
                </a:solidFill>
                <a:latin typeface="Arial"/>
                <a:ea typeface="Arial"/>
                <a:cs typeface="Arial"/>
              </a:defRPr>
            </a:pPr>
            <a:r>
              <a:rPr sz="2100" b="0">
                <a:solidFill>
                  <a:srgbClr val="193653"/>
                </a:solidFill>
                <a:latin typeface="Arial"/>
                <a:ea typeface="Arial"/>
                <a:cs typeface="Arial"/>
              </a:rPr>
              <a:t>Documentation/</a:t>
            </a:r>
          </a:p>
          <a:p xmlns:a="http://schemas.openxmlformats.org/drawingml/2006/main">
            <a:pPr>
              <a:defRPr sz="2100" b="0">
                <a:solidFill>
                  <a:srgbClr val="193653"/>
                </a:solidFill>
                <a:latin typeface="Arial"/>
                <a:ea typeface="Arial"/>
                <a:cs typeface="Arial"/>
              </a:defRPr>
            </a:pPr>
            <a:r>
              <a:rPr sz="2100" b="0">
                <a:solidFill>
                  <a:srgbClr val="193653"/>
                </a:solidFill>
                <a:latin typeface="Arial"/>
                <a:ea typeface="Arial"/>
                <a:cs typeface="Arial"/>
              </a:rPr>
              <a:t>Video/</a:t>
            </a:r>
          </a:p>
          <a:p xmlns:a="http://schemas.openxmlformats.org/drawingml/2006/main">
            <a:pPr>
              <a:defRPr sz="2100" b="0">
                <a:solidFill>
                  <a:srgbClr val="193653"/>
                </a:solidFill>
                <a:latin typeface="Arial"/>
                <a:ea typeface="Arial"/>
                <a:cs typeface="Arial"/>
              </a:defRPr>
            </a:pPr>
            <a:r>
              <a:rPr sz="2100" b="0">
                <a:solidFill>
                  <a:srgbClr val="193653"/>
                </a:solidFill>
                <a:latin typeface="Arial"/>
                <a:ea typeface="Arial"/>
                <a:cs typeface="Arial"/>
              </a:rPr>
              <a:t>Declarations/</a:t>
            </a:r>
          </a:p>
        </p:txBody>
      </p:sp>
      <p:sp>
        <p:nvSpPr>
          <p:cNvPr id="6" name="">
            <a:extLst xmlns:a="http://schemas.openxmlformats.org/drawingml/2006/main">
              <a:ext uri="{FF2B5EF4-FFF2-40B4-BE49-F238E27FC236}">
                <a16:creationId xmlns:a16="http://schemas.microsoft.com/office/drawing/2014/main" id="{742D69BB-3101-4968-9B35-B2BD3D1373C9}"/>
              </a:ext>
            </a:extLst>
          </p:cNvPr>
          <p:cNvSpPr>
            <a:spLocks xmlns:a="http://schemas.openxmlformats.org/drawingml/2006/main" noGrp="1"/>
          </p:cNvSpPr>
          <p:nvPr/>
        </p:nvSpPr>
        <p:spPr>
          <a:xfrm xmlns:a="http://schemas.openxmlformats.org/drawingml/2006/main">
            <a:off x="5238750" y="2381250"/>
            <a:ext cx="6286500" cy="3314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Prepared: synopsis draft, report PDF, model configuration, evaluation evidence and a five-minute captioned walkthrough. Faculty approval remains pending.</a:t>
            </a:r>
          </a:p>
          <a:p xmlns:a="http://schemas.openxmlformats.org/drawingml/2006/main">
            <a:r>
              <a:t/>
            </a:r>
          </a:p>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Each student signs academic-integrity and AI-tool usage declarations.</a:t>
            </a:r>
          </a:p>
          <a:p xmlns:a="http://schemas.openxmlformats.org/drawingml/2006/main">
            <a:r>
              <a:t/>
            </a:r>
          </a:p>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Use &lt;ID&gt;_Presentation_v1.2.pptx and ZIP the entire root folder.</a:t>
            </a:r>
          </a:p>
        </p:txBody>
      </p:sp>
    </p:spTree>
    <p:extLst>
      <p:ext uri="{BB962C8B-B14F-4D97-AF65-F5344CB8AC3E}">
        <p14:creationId xmlns:p14="http://schemas.microsoft.com/office/powerpoint/2010/main" val="1485433381"/>
      </p:ext>
    </p:extLst>
  </p:cSld>
</p:sld>
</file>

<file path=ppt/slides/slide1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30E4F57-4906-4C0A-A0A0-0D6EE5D60700}"/>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3653"/>
                </a:solidFill>
                <a:latin typeface="Arial"/>
                <a:ea typeface="Arial"/>
                <a:cs typeface="Arial"/>
              </a:defRPr>
            </a:defPPr>
          </a:lstStyle>
          <a:p xmlns:a="http://schemas.openxmlformats.org/drawingml/2006/main">
            <a:pPr>
              <a:defRPr sz="3300" b="1">
                <a:solidFill>
                  <a:srgbClr val="193653"/>
                </a:solidFill>
                <a:latin typeface="Arial"/>
                <a:ea typeface="Arial"/>
                <a:cs typeface="Arial"/>
              </a:defRPr>
            </a:pPr>
            <a:r>
              <a:rPr sz="3300" b="1">
                <a:solidFill>
                  <a:srgbClr val="193653"/>
                </a:solidFill>
                <a:latin typeface="Arial"/>
                <a:ea typeface="Arial"/>
                <a:cs typeface="Arial"/>
              </a:rPr>
              <a:t>Evidence index and Q&amp;A</a:t>
            </a:r>
          </a:p>
        </p:txBody>
      </p:sp>
      <p:sp>
        <p:nvSpPr>
          <p:cNvPr id="2" name="">
            <a:extLst xmlns:a="http://schemas.openxmlformats.org/drawingml/2006/main">
              <a:ext uri="{FF2B5EF4-FFF2-40B4-BE49-F238E27FC236}">
                <a16:creationId xmlns:a16="http://schemas.microsoft.com/office/drawing/2014/main" id="{EB053195-6FB7-493D-935F-F1BBEF10D6E7}"/>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APPENDIX   HLD Navigator</a:t>
            </a:r>
          </a:p>
        </p:txBody>
      </p:sp>
      <p:sp>
        <p:nvSpPr>
          <p:cNvPr id="3" name="">
            <a:extLst xmlns:a="http://schemas.openxmlformats.org/drawingml/2006/main">
              <a:ext uri="{FF2B5EF4-FFF2-40B4-BE49-F238E27FC236}">
                <a16:creationId xmlns:a16="http://schemas.microsoft.com/office/drawing/2014/main" id="{B157857B-D00F-4C49-9CD1-E1821A616EC1}"/>
              </a:ext>
            </a:extLst>
          </p:cNvPr>
          <p:cNvSpPr>
            <a:spLocks xmlns:a="http://schemas.openxmlformats.org/drawingml/2006/main" noGrp="1"/>
          </p:cNvSpPr>
          <p:nvPr/>
        </p:nvSpPr>
        <p:spPr>
          <a:xfrm xmlns:a="http://schemas.openxmlformats.org/drawingml/2006/main">
            <a:off x="111252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274"/>
                </a:solidFill>
                <a:latin typeface="Arial"/>
                <a:ea typeface="Arial"/>
                <a:cs typeface="Arial"/>
              </a:defRPr>
            </a:defPPr>
          </a:lstStyle>
          <a:p xmlns:a="http://schemas.openxmlformats.org/drawingml/2006/main">
            <a:pPr>
              <a:defRPr sz="1200" b="0">
                <a:solidFill>
                  <a:srgbClr val="516274"/>
                </a:solidFill>
                <a:latin typeface="Arial"/>
                <a:ea typeface="Arial"/>
                <a:cs typeface="Arial"/>
              </a:defRPr>
            </a:pPr>
            <a:r>
              <a:rPr sz="1200" b="0">
                <a:solidFill>
                  <a:srgbClr val="516274"/>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4FCBF533-D0F6-41B6-A9EC-775E0E2E9B42}"/>
              </a:ext>
            </a:extLst>
          </p:cNvPr>
          <p:cNvSpPr>
            <a:spLocks xmlns:a="http://schemas.openxmlformats.org/drawingml/2006/main" noGrp="1"/>
          </p:cNvSpPr>
          <p:nvPr/>
        </p:nvSpPr>
        <p:spPr>
          <a:xfrm xmlns:a="http://schemas.openxmlformats.org/drawingml/2006/main">
            <a:off x="609600" y="1762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Project and data</a:t>
            </a:r>
          </a:p>
        </p:txBody>
      </p:sp>
      <p:sp>
        <p:nvSpPr>
          <p:cNvPr id="5" name="">
            <a:extLst xmlns:a="http://schemas.openxmlformats.org/drawingml/2006/main">
              <a:ext uri="{FF2B5EF4-FFF2-40B4-BE49-F238E27FC236}">
                <a16:creationId xmlns:a16="http://schemas.microsoft.com/office/drawing/2014/main" id="{17FBA190-FE26-4698-A838-F8F807AB7888}"/>
              </a:ext>
            </a:extLst>
          </p:cNvPr>
          <p:cNvSpPr>
            <a:spLocks xmlns:a="http://schemas.openxmlformats.org/drawingml/2006/main" noGrp="1"/>
          </p:cNvSpPr>
          <p:nvPr/>
        </p:nvSpPr>
        <p:spPr>
          <a:xfrm xmlns:a="http://schemas.openxmlformats.org/drawingml/2006/main">
            <a:off x="3981450" y="17621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README.md, STATUS.md, pyproject.toml, data/evaluation/ and examples/revision-review/</a:t>
            </a:r>
          </a:p>
        </p:txBody>
      </p:sp>
      <p:sp>
        <p:nvSpPr>
          <p:cNvPr id="6" name="">
            <a:extLst xmlns:a="http://schemas.openxmlformats.org/drawingml/2006/main">
              <a:ext uri="{FF2B5EF4-FFF2-40B4-BE49-F238E27FC236}">
                <a16:creationId xmlns:a16="http://schemas.microsoft.com/office/drawing/2014/main" id="{D621A8D0-D871-430B-9D83-4B5FDE2A6FE8}"/>
              </a:ext>
            </a:extLst>
          </p:cNvPr>
          <p:cNvSpPr>
            <a:spLocks xmlns:a="http://schemas.openxmlformats.org/drawingml/2006/main" noGrp="1"/>
          </p:cNvSpPr>
          <p:nvPr/>
        </p:nvSpPr>
        <p:spPr>
          <a:xfrm xmlns:a="http://schemas.openxmlformats.org/drawingml/2006/main">
            <a:off x="609600" y="27908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Metrics and raw outputs</a:t>
            </a:r>
          </a:p>
        </p:txBody>
      </p:sp>
      <p:sp>
        <p:nvSpPr>
          <p:cNvPr id="7" name="">
            <a:extLst xmlns:a="http://schemas.openxmlformats.org/drawingml/2006/main">
              <a:ext uri="{FF2B5EF4-FFF2-40B4-BE49-F238E27FC236}">
                <a16:creationId xmlns:a16="http://schemas.microsoft.com/office/drawing/2014/main" id="{ACDC5B9B-4260-40B7-8AB8-B47C80429987}"/>
              </a:ext>
            </a:extLst>
          </p:cNvPr>
          <p:cNvSpPr>
            <a:spLocks xmlns:a="http://schemas.openxmlformats.org/drawingml/2006/main" noGrp="1"/>
          </p:cNvSpPr>
          <p:nvPr/>
        </p:nvSpPr>
        <p:spPr>
          <a:xfrm xmlns:a="http://schemas.openxmlformats.org/drawingml/2006/main">
            <a:off x="3981450" y="27908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docs/VALIDATION.md and docs/evidence/: completion suite, public, retrieval, OCR and local answer records</a:t>
            </a:r>
          </a:p>
        </p:txBody>
      </p:sp>
      <p:sp>
        <p:nvSpPr>
          <p:cNvPr id="8" name="">
            <a:extLst xmlns:a="http://schemas.openxmlformats.org/drawingml/2006/main">
              <a:ext uri="{FF2B5EF4-FFF2-40B4-BE49-F238E27FC236}">
                <a16:creationId xmlns:a16="http://schemas.microsoft.com/office/drawing/2014/main" id="{510001C9-F0B3-4C3F-AB77-3652B650A842}"/>
              </a:ext>
            </a:extLst>
          </p:cNvPr>
          <p:cNvSpPr>
            <a:spLocks xmlns:a="http://schemas.openxmlformats.org/drawingml/2006/main" noGrp="1"/>
          </p:cNvSpPr>
          <p:nvPr/>
        </p:nvSpPr>
        <p:spPr>
          <a:xfrm xmlns:a="http://schemas.openxmlformats.org/drawingml/2006/main">
            <a:off x="609600" y="3819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Acceptance evidence</a:t>
            </a:r>
          </a:p>
        </p:txBody>
      </p:sp>
      <p:sp>
        <p:nvSpPr>
          <p:cNvPr id="9" name="">
            <a:extLst xmlns:a="http://schemas.openxmlformats.org/drawingml/2006/main">
              <a:ext uri="{FF2B5EF4-FFF2-40B4-BE49-F238E27FC236}">
                <a16:creationId xmlns:a16="http://schemas.microsoft.com/office/drawing/2014/main" id="{DDFE2610-05B8-4025-B2C5-4E9895BC6CC4}"/>
              </a:ext>
            </a:extLst>
          </p:cNvPr>
          <p:cNvSpPr>
            <a:spLocks xmlns:a="http://schemas.openxmlformats.org/drawingml/2006/main" noGrp="1"/>
          </p:cNvSpPr>
          <p:nvPr/>
        </p:nvSpPr>
        <p:spPr>
          <a:xfrm xmlns:a="http://schemas.openxmlformats.org/drawingml/2006/main">
            <a:off x="3981450" y="38195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tester_acceptance/T7a_CYCLE1_REPORT.md and docs/reviewer-packet/</a:t>
            </a:r>
          </a:p>
        </p:txBody>
      </p:sp>
      <p:sp>
        <p:nvSpPr>
          <p:cNvPr id="10" name="">
            <a:extLst xmlns:a="http://schemas.openxmlformats.org/drawingml/2006/main">
              <a:ext uri="{FF2B5EF4-FFF2-40B4-BE49-F238E27FC236}">
                <a16:creationId xmlns:a16="http://schemas.microsoft.com/office/drawing/2014/main" id="{A323E9E3-D012-4ACF-A448-68FE3C37C700}"/>
              </a:ext>
            </a:extLst>
          </p:cNvPr>
          <p:cNvSpPr>
            <a:spLocks xmlns:a="http://schemas.openxmlformats.org/drawingml/2006/main" noGrp="1"/>
          </p:cNvSpPr>
          <p:nvPr/>
        </p:nvSpPr>
        <p:spPr>
          <a:xfrm xmlns:a="http://schemas.openxmlformats.org/drawingml/2006/main">
            <a:off x="609600" y="48482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CAE"/>
                </a:solidFill>
                <a:latin typeface="Arial"/>
                <a:ea typeface="Arial"/>
                <a:cs typeface="Arial"/>
              </a:defRPr>
            </a:defPPr>
          </a:lstStyle>
          <a:p xmlns:a="http://schemas.openxmlformats.org/drawingml/2006/main">
            <a:pPr>
              <a:defRPr sz="2025" b="1">
                <a:solidFill>
                  <a:srgbClr val="276CAE"/>
                </a:solidFill>
                <a:latin typeface="Arial"/>
                <a:ea typeface="Arial"/>
                <a:cs typeface="Arial"/>
              </a:defRPr>
            </a:pPr>
            <a:r>
              <a:rPr sz="2025" b="1">
                <a:solidFill>
                  <a:srgbClr val="276CAE"/>
                </a:solidFill>
                <a:latin typeface="Arial"/>
                <a:ea typeface="Arial"/>
                <a:cs typeface="Arial"/>
              </a:rPr>
              <a:t>Assessment requirements</a:t>
            </a:r>
          </a:p>
        </p:txBody>
      </p:sp>
      <p:sp>
        <p:nvSpPr>
          <p:cNvPr id="11" name="">
            <a:extLst xmlns:a="http://schemas.openxmlformats.org/drawingml/2006/main">
              <a:ext uri="{FF2B5EF4-FFF2-40B4-BE49-F238E27FC236}">
                <a16:creationId xmlns:a16="http://schemas.microsoft.com/office/drawing/2014/main" id="{1C69E96D-F73A-43DE-9D4B-58C12F7FBE87}"/>
              </a:ext>
            </a:extLst>
          </p:cNvPr>
          <p:cNvSpPr>
            <a:spLocks xmlns:a="http://schemas.openxmlformats.org/drawingml/2006/main" noGrp="1"/>
          </p:cNvSpPr>
          <p:nvPr/>
        </p:nvSpPr>
        <p:spPr>
          <a:xfrm xmlns:a="http://schemas.openxmlformats.org/drawingml/2006/main">
            <a:off x="3981450" y="4848225"/>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653"/>
                </a:solidFill>
                <a:latin typeface="Arial"/>
                <a:ea typeface="Arial"/>
                <a:cs typeface="Arial"/>
              </a:defRPr>
            </a:defPPr>
          </a:lstStyle>
          <a:p xmlns:a="http://schemas.openxmlformats.org/drawingml/2006/main">
            <a:pPr>
              <a:defRPr sz="2025" b="0">
                <a:solidFill>
                  <a:srgbClr val="193653"/>
                </a:solidFill>
                <a:latin typeface="Arial"/>
                <a:ea typeface="Arial"/>
                <a:cs typeface="Arial"/>
              </a:defRPr>
            </a:pPr>
            <a:r>
              <a:rPr sz="2025" b="0">
                <a:solidFill>
                  <a:srgbClr val="193653"/>
                </a:solidFill>
                <a:latin typeface="Arial"/>
                <a:ea typeface="Arial"/>
                <a:cs typeface="Arial"/>
              </a:rPr>
              <a:t>Instructions1.pdf, Instructions2.pdf, Evaluation_Rubrics.pdf and supplied folder-structure image</a:t>
            </a:r>
          </a:p>
        </p:txBody>
      </p:sp>
    </p:spTree>
    <p:extLst>
      <p:ext uri="{BB962C8B-B14F-4D97-AF65-F5344CB8AC3E}">
        <p14:creationId xmlns:p14="http://schemas.microsoft.com/office/powerpoint/2010/main" val="19776347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2026-10-09T02:47:52.7350000Z</dcterms:created>
  <dcterms:modified xsi:type="dcterms:W3CDTF">2026-10-09T02:47:52.7350000Z</dcterms:modified>
</coreProperties>
</file>